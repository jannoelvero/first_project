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12192000"/>
  <p:embeddedFontLst>
    <p:embeddedFont>
      <p:font typeface="Inter" panose="02000503000000020004" pitchFamily="2" charset="0"/>
      <p:regular r:id="rId22"/>
    </p:embeddedFont>
    <p:embeddedFont>
      <p:font typeface="Inter Bold" panose="02000503000000020004" pitchFamily="2"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86"/>
    <p:restoredTop sz="80548"/>
  </p:normalViewPr>
  <p:slideViewPr>
    <p:cSldViewPr snapToGrid="0" snapToObjects="1">
      <p:cViewPr varScale="1">
        <p:scale>
          <a:sx n="101" d="100"/>
          <a:sy n="101" d="100"/>
        </p:scale>
        <p:origin x="11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4213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majority of Airbnb listings are highly rated, representing 76.16 percent or 460 listings. Average rated listings account for 20.53 percent or 124 listings, while only 3.31 percent or 20 listings are classified as poorly rated. This indicates that guest ratings are strongly concentrated in the high rating category, with poorly rated properties representing only a small proportion of the dataset.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PH" sz="1200" b="0" i="0" kern="1200" dirty="0">
                <a:solidFill>
                  <a:schemeClr val="tx1"/>
                </a:solidFill>
                <a:effectLst/>
                <a:latin typeface="+mn-lt"/>
                <a:ea typeface="+mn-ea"/>
                <a:cs typeface="+mn-cs"/>
              </a:rPr>
              <a:t>Highly rated Airbnb listings have a higher median price of $131.00, compared with $79.00 for poorly rated listings.</a:t>
            </a:r>
          </a:p>
          <a:p>
            <a:pPr latinLnBrk="1"/>
            <a:endParaRPr lang="en-PH" sz="1200" b="0" i="0" kern="1200" dirty="0">
              <a:solidFill>
                <a:schemeClr val="tx1"/>
              </a:solidFill>
              <a:effectLst/>
              <a:latin typeface="+mn-lt"/>
              <a:ea typeface="+mn-ea"/>
              <a:cs typeface="+mn-cs"/>
            </a:endParaRPr>
          </a:p>
          <a:p>
            <a:pPr latinLnBrk="1"/>
            <a:r>
              <a:rPr lang="en-PH" sz="1200" b="0" i="0" kern="1200" dirty="0">
                <a:solidFill>
                  <a:schemeClr val="tx1"/>
                </a:solidFill>
                <a:effectLst/>
                <a:latin typeface="+mn-lt"/>
                <a:ea typeface="+mn-ea"/>
                <a:cs typeface="+mn-cs"/>
              </a:rPr>
              <a:t>The Mann Whitney U test produced a p value of 0.0063. Since this is below 0.05, the difference in prices between poorly rated and highly rated listings is statistically significant.</a:t>
            </a:r>
          </a:p>
          <a:p>
            <a:pPr latinLnBrk="1"/>
            <a:endParaRPr lang="en-PH" sz="1200" b="0" i="0" kern="1200" dirty="0">
              <a:solidFill>
                <a:schemeClr val="tx1"/>
              </a:solidFill>
              <a:effectLst/>
              <a:latin typeface="+mn-lt"/>
              <a:ea typeface="+mn-ea"/>
              <a:cs typeface="+mn-cs"/>
            </a:endParaRPr>
          </a:p>
          <a:p>
            <a:pPr latinLnBrk="1"/>
            <a:r>
              <a:rPr lang="en-PH" sz="1200" b="0" i="0" kern="1200" dirty="0">
                <a:solidFill>
                  <a:schemeClr val="tx1"/>
                </a:solidFill>
                <a:effectLst/>
                <a:latin typeface="+mn-lt"/>
                <a:ea typeface="+mn-ea"/>
                <a:cs typeface="+mn-cs"/>
              </a:rPr>
              <a:t>Conclusion: Listing price is significantly associated with rating category in this dataset.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 Result: Hotel rooms and hotels are the property types most likely to receive poor guest ratings, with 16.67 percent of listings in each category classified as low rated. Lofts follow closely at 15.38 percent, while apartments have a lower rate of 9.33 percent but account for the largest number of poorly rated listings at 7 properties. Several property types, including cabins, villas, treehouses, cottages, and rooms, recorded no poorly rated listings in this dataset.</a:t>
            </a:r>
          </a:p>
          <a:p>
            <a:endParaRPr lang="en-US" dirty="0"/>
          </a:p>
          <a:p>
            <a:r>
              <a:rPr lang="en-US" dirty="0"/>
              <a:t>#Important interpretation</a:t>
            </a:r>
          </a:p>
          <a:p>
            <a:endParaRPr lang="en-US" dirty="0"/>
          </a:p>
          <a:p>
            <a:r>
              <a:rPr lang="en-US" dirty="0"/>
              <a:t>#There is one caution worth mentioning in your project. Hotels and hotel rooms each have only 6 listings, so their 16.67 percent rate represents just 1 poorly rated property each. In contrast, apartments have 75 listings, with 7 receiving poor ratings.</a:t>
            </a:r>
          </a:p>
          <a:p>
            <a:endParaRPr lang="en-US" dirty="0"/>
          </a:p>
          <a:p>
            <a:r>
              <a:rPr lang="en-US" dirty="0"/>
              <a:t>#Therefore, I would phrase your overall finding as:</a:t>
            </a:r>
          </a:p>
          <a:p>
            <a:endParaRPr lang="en-US" dirty="0"/>
          </a:p>
          <a:p>
            <a:r>
              <a:rPr lang="en-US" dirty="0"/>
              <a:t>#Conclusion: Hotel rooms, hotels, and lofts showed the highest proportions of poor ratings. However, apartments contributed the greatest number of poorly rated listings overall. Results for property types with small sample sizes should be interpreted cautiously.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Result: The analysis found a statistically significant positive relationship between the number of amenities mentioned and Airbnb listing prices. The Spearman correlation was 0.101, with a p value of 0.013, which is below the 0.05 significance level. However, the correlation is weak, indicating that amenities mentioned are associated with higher prices, but the relationship is small.</a:t>
            </a:r>
          </a:p>
          <a:p>
            <a:endParaRPr lang="en-US" dirty="0"/>
          </a:p>
          <a:p>
            <a:r>
              <a:rPr lang="en-US" dirty="0"/>
              <a:t>#Descriptive results support the general direction:</a:t>
            </a:r>
          </a:p>
          <a:p>
            <a:endParaRPr lang="en-US" dirty="0"/>
          </a:p>
          <a:p>
            <a:r>
              <a:rPr lang="en-US" dirty="0"/>
              <a:t>#Amenities mentioned	Listings	Average price	Median price</a:t>
            </a:r>
          </a:p>
          <a:p>
            <a:r>
              <a:rPr lang="en-US" dirty="0"/>
              <a:t>0	409	$144.04	$112.00</a:t>
            </a:r>
          </a:p>
          <a:p>
            <a:r>
              <a:rPr lang="en-US" dirty="0"/>
              <a:t>1	159	$188.80	$131.00</a:t>
            </a:r>
          </a:p>
          <a:p>
            <a:r>
              <a:rPr lang="en-US" dirty="0"/>
              <a:t>2	28	$195.25	$154.50</a:t>
            </a:r>
          </a:p>
          <a:p>
            <a:r>
              <a:rPr lang="en-US" dirty="0"/>
              <a:t>3	8	$224.75	$130.00</a:t>
            </a:r>
          </a:p>
          <a:p>
            <a:endParaRPr lang="en-US" dirty="0"/>
          </a:p>
          <a:p>
            <a:r>
              <a:rPr lang="en-US" dirty="0"/>
              <a:t>#The average price rises from $144.04 for listings with no amenities mentioned to $224.75 for listings mentioning three amenities. However, the median does not increase consistently, which reinforces that the relationship is not strong.</a:t>
            </a:r>
          </a:p>
          <a:p>
            <a:endParaRPr lang="en-US" dirty="0"/>
          </a:p>
          <a:p>
            <a:r>
              <a:rPr lang="en-US" dirty="0"/>
              <a:t>#Conclusion: Listings mentioning more amenities generally tend to have higher prices. Although this relationship is statistically significant, its weak correlation suggests that amenities alone do not strongly determine Airbnb prices. Other factors, such as location and property type, are likely to play a larger role.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#RQ5 Result: The analysis found a statistically significant negative relationship between the number of amenities mentioned and Airbnb ratings. The Spearman correlation was negative 0.115, with a p value of 0.0045, which is below the 0.05 significance level. However, the correlation is very weak, indicating that the number of amenities mentioned has only a small relationship with guest ratings.</a:t>
            </a:r>
          </a:p>
          <a:p>
            <a:endParaRPr lang="en-US" dirty="0"/>
          </a:p>
          <a:p>
            <a:r>
              <a:rPr lang="en-US" dirty="0"/>
              <a:t>#Your descriptive results also show that average ratings decline slightly as more amenities are mentioned:</a:t>
            </a:r>
          </a:p>
          <a:p>
            <a:endParaRPr lang="en-US" dirty="0"/>
          </a:p>
          <a:p>
            <a:r>
              <a:rPr lang="en-US" dirty="0"/>
              <a:t>#Amenities mentioned	Listings	Average rating	Median rating</a:t>
            </a:r>
          </a:p>
          <a:p>
            <a:r>
              <a:rPr lang="en-US" dirty="0"/>
              <a:t>0	409	4.858	4.890</a:t>
            </a:r>
          </a:p>
          <a:p>
            <a:r>
              <a:rPr lang="en-US" dirty="0"/>
              <a:t>1	159	4.827	4.860</a:t>
            </a:r>
          </a:p>
          <a:p>
            <a:r>
              <a:rPr lang="en-US" dirty="0"/>
              <a:t>2	28	4.830	4.855</a:t>
            </a:r>
          </a:p>
          <a:p>
            <a:r>
              <a:rPr lang="en-US" dirty="0"/>
              <a:t>3	8	4.802	4.830</a:t>
            </a:r>
          </a:p>
          <a:p>
            <a:endParaRPr lang="en-US" dirty="0"/>
          </a:p>
          <a:p>
            <a:r>
              <a:rPr lang="en-US" dirty="0"/>
              <a:t>#Conclusion: Listings mentioning more amenities do not necessarily receive better guest ratings. Although the relationship is statistically significant, its very weak negative correlation suggests that amenities mentioned in the listing description are not a strong driver of guest satisfaction. Other factors, such as service quality, property condition, location, and whether guest expectations are met, may be more important.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#RQ6 Result: Airbnb guest ratings differ significantly across locations. The Kruskal Wallis test produced an H statistic of 65.785 with a p value below 0.001, indicating that the differences in ratings across countries are statistically significant.</a:t>
            </a:r>
          </a:p>
          <a:p>
            <a:endParaRPr lang="en-US" dirty="0"/>
          </a:p>
          <a:p>
            <a:endParaRPr lang="en-US" dirty="0"/>
          </a:p>
          <a:p>
            <a:r>
              <a:rPr lang="en-US" dirty="0"/>
              <a:t>#Conclusion: Location has a statistically significant association with Airbnb guest ratings in this dataset. However, the test only establishes that at least one location differs from another. It does not establish that location causes the differences in ratings. Other factors associated with each market, such as property characteristics, service quality, pricing, and guest expectations, may also contribute to these differences.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#RQ7 Result: Airbnb prices differ significantly across locations. The Kruskal Wallis test produced an H statistic of 196.358 with p &lt; </a:t>
            </a:r>
            <a:r>
              <a:rPr lang="en-PH" dirty="0">
                <a:solidFill>
                  <a:schemeClr val="bg1"/>
                </a:solidFill>
              </a:rPr>
              <a:t>5.903294656518362e-31</a:t>
            </a:r>
            <a:r>
              <a:rPr lang="en-US" dirty="0"/>
              <a:t>, confirming a statistically significant difference in listing prices across locations. United States recorded the highest average price at $220. Malaysia had the lowest average price at $52, followed by Thailand at $65 and Philippines 69.</a:t>
            </a:r>
          </a:p>
          <a:p>
            <a:endParaRPr lang="en-US" dirty="0"/>
          </a:p>
          <a:p>
            <a:r>
              <a:rPr lang="en-US" dirty="0"/>
              <a:t>#Conclusion: Location is significantly associated with Airbnb listing prices. Properties in locations such as USA, Canada, and Indonesia tend to command substantially higher prices, while listings in Malaysia and Thailand are considerably less expensive. This suggests that geographic market conditions are an important factor in Airbnb pricing.</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#RQ8 Result: The analysis found a statistically significant negative relationship between the number of reviews and Airbnb ratings. The Spearman correlation was negative 0.184, with p &lt; 0.001. This indicates that listings with more reviews tend to have slightly lower ratings, although the relationship is weak.</a:t>
            </a:r>
          </a:p>
          <a:p>
            <a:endParaRPr lang="en-US" dirty="0"/>
          </a:p>
          <a:p>
            <a:r>
              <a:rPr lang="en-US" dirty="0"/>
              <a:t>#dataset contains 604 listings. The average listing has about 178 reviews and an average rating of 4.85. Review counts vary substantially, from 3 to 1,239 reviews, while ratings are much more concentrated, ranging from 3.67 to 5.00.</a:t>
            </a:r>
          </a:p>
          <a:p>
            <a:endParaRPr lang="en-US" dirty="0"/>
          </a:p>
          <a:p>
            <a:r>
              <a:rPr lang="en-US" dirty="0"/>
              <a:t>#Conclusion: The number of reviews is significantly associated with Airbnb ratings, but the relationship is weak. Listings with larger numbers of reviews tend to have slightly lower ratings. This may reflect greater exposure to a wider range of guest experiences, but the analysis does not establish that having more reviews causes ratings to decline.#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#RQ9 Result: June recorded the highest total number of reviews, with 66,386 reviews, while May recorded the highest average Airbnb rating at 4.98. However, May contains only one listing, so its average rating should not be treated as a reliable monthly pattern.</a:t>
            </a:r>
          </a:p>
          <a:p>
            <a:endParaRPr lang="en-US" dirty="0"/>
          </a:p>
          <a:p>
            <a:r>
              <a:rPr lang="en-US" dirty="0"/>
              <a:t>#monthly results reveal an important imbalance in the dataset. June alone contains 401 of the 604 listings, while May and January each contain only one listing and December contains only two.</a:t>
            </a:r>
          </a:p>
          <a:p>
            <a:endParaRPr lang="en-US" dirty="0"/>
          </a:p>
          <a:p>
            <a:endParaRPr lang="en-US" dirty="0"/>
          </a:p>
          <a:p>
            <a:r>
              <a:rPr lang="en-US" dirty="0"/>
              <a:t>#Conclusion: June has the highest review activity, with 66,386 total reviews. Although May has the highest average rating at 4.98, this result is based on only one listing and should be interpreted cautiously. Among months with a more substantial number of listings, November shows a particularly high average rating of 4.929, although it is represented by only 13 listings.</a:t>
            </a:r>
          </a:p>
          <a:p>
            <a:endParaRPr lang="en-US" dirty="0"/>
          </a:p>
          <a:p>
            <a:r>
              <a:rPr lang="en-US" dirty="0"/>
              <a:t>#Important limitation for RQ9</a:t>
            </a:r>
          </a:p>
          <a:p>
            <a:endParaRPr lang="en-US" dirty="0"/>
          </a:p>
          <a:p>
            <a:r>
              <a:rPr lang="en-US" dirty="0"/>
              <a:t>#Month variable appears to describe the month associated with each listing in the source dataset, while Number of Reviews appears to be the listing's total review count. If that is correct, saying that 66,386 reviews occurred in June would be inaccurate.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RQ10 Result: Hosts should prioritize the overall guest experience rather than simply increasing the number of amenities. The analysis found that amenities mentioned had only a very weak relationship with guest ratings, while ratings differed significantly across locations and certain property types showed higher proportions of poorly rated listings. Hotel rooms, hotels, lofts, and apartments showed the highest proportions of low rated properties in the dataset. Hosts operating these property types should therefore pay particular attention to factors affecting the guest experience and expectations.</a:t>
            </a:r>
          </a:p>
          <a:p>
            <a:endParaRPr lang="en-US" dirty="0"/>
          </a:p>
          <a:p>
            <a:endParaRPr lang="en-US" dirty="0"/>
          </a:p>
          <a:p>
            <a:r>
              <a:rPr lang="en-US" dirty="0"/>
              <a:t>#Conclusion: To improve poorly rated listings, hosts should prioritize service quality, property condition, cleanliness, accuracy of listing information, and management of guest expectations rather than relying solely on adding amenities. Location cannot easily be changed, but hosts can improve how the property is positioned and priced relative to its market. Amenities should support the guest experience, but the analysis does not show that simply mentioning more amenities produces better ratings.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45073"/>
          </a:solidFill>
          <a:ln/>
        </p:spPr>
        <p:txBody>
          <a:bodyPr/>
          <a:lstStyle/>
          <a:p>
            <a:endParaRPr lang="en-US"/>
          </a:p>
        </p:txBody>
      </p:sp>
      <p:sp>
        <p:nvSpPr>
          <p:cNvPr id="3" name="Shape 1"/>
          <p:cNvSpPr/>
          <p:nvPr/>
        </p:nvSpPr>
        <p:spPr>
          <a:xfrm>
            <a:off x="0" y="0"/>
            <a:ext cx="12191695" cy="6858000"/>
          </a:xfrm>
          <a:prstGeom prst="rect">
            <a:avLst/>
          </a:prstGeom>
          <a:solidFill>
            <a:srgbClr val="44689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13667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From Poor Ratings to Exceptional Stays</a:t>
            </a:r>
            <a:endParaRPr lang="en-US" sz="3700" dirty="0"/>
          </a:p>
        </p:txBody>
      </p:sp>
      <p:sp>
        <p:nvSpPr>
          <p:cNvPr id="4" name="Text 1"/>
          <p:cNvSpPr/>
          <p:nvPr/>
        </p:nvSpPr>
        <p:spPr>
          <a:xfrm>
            <a:off x="661475" y="3601442"/>
            <a:ext cx="6296860" cy="1119882"/>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FFFFFF"/>
                </a:solidFill>
                <a:latin typeface="Inter" pitchFamily="34" charset="0"/>
                <a:ea typeface="Inter" pitchFamily="34" charset="-122"/>
                <a:cs typeface="Inter" pitchFamily="34" charset="-120"/>
              </a:rPr>
              <a:t>A Data-Driven Analysis of Factors Influencing Airbnb Guest Satisfaction</a:t>
            </a:r>
            <a:endParaRPr lang="en-US" sz="1450" dirty="0"/>
          </a:p>
          <a:p>
            <a:pPr marL="0" indent="0" algn="l">
              <a:lnSpc>
                <a:spcPct val="133000"/>
              </a:lnSpc>
              <a:buNone/>
            </a:pPr>
            <a:r>
              <a:rPr lang="en-US" sz="1450" i="1" dirty="0">
                <a:solidFill>
                  <a:srgbClr val="FFFFFF"/>
                </a:solidFill>
                <a:latin typeface="Inter" pitchFamily="34" charset="0"/>
                <a:ea typeface="Inter" pitchFamily="34" charset="-122"/>
                <a:cs typeface="Inter" pitchFamily="34" charset="-120"/>
              </a:rPr>
              <a:t>By Jan Noel Vero &amp; Nadiya Al-Shahaibi — Business Analysts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2054523"/>
            <a:ext cx="1391012" cy="287139"/>
          </a:xfrm>
          <a:prstGeom prst="roundRect">
            <a:avLst>
              <a:gd name="adj" fmla="val 22118"/>
            </a:avLst>
          </a:prstGeom>
          <a:solidFill>
            <a:srgbClr val="4B2D01"/>
          </a:solidFill>
          <a:ln/>
        </p:spPr>
        <p:txBody>
          <a:bodyPr/>
          <a:lstStyle/>
          <a:p>
            <a:endParaRPr lang="en-US"/>
          </a:p>
        </p:txBody>
      </p:sp>
      <p:sp>
        <p:nvSpPr>
          <p:cNvPr id="4" name="Text 1"/>
          <p:cNvSpPr/>
          <p:nvPr/>
        </p:nvSpPr>
        <p:spPr>
          <a:xfrm>
            <a:off x="5346765" y="2111177"/>
            <a:ext cx="1773788" cy="173831"/>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INTRODUCTION</a:t>
            </a:r>
            <a:endParaRPr lang="en-US" sz="1150" dirty="0"/>
          </a:p>
        </p:txBody>
      </p:sp>
      <p:sp>
        <p:nvSpPr>
          <p:cNvPr id="5" name="Text 2"/>
          <p:cNvSpPr/>
          <p:nvPr/>
        </p:nvSpPr>
        <p:spPr>
          <a:xfrm>
            <a:off x="5233360" y="2417266"/>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Background</a:t>
            </a:r>
            <a:endParaRPr lang="en-US" sz="3700" dirty="0"/>
          </a:p>
        </p:txBody>
      </p:sp>
      <p:sp>
        <p:nvSpPr>
          <p:cNvPr id="6" name="Text 3"/>
          <p:cNvSpPr/>
          <p:nvPr/>
        </p:nvSpPr>
        <p:spPr>
          <a:xfrm>
            <a:off x="5233360" y="3291384"/>
            <a:ext cx="629686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The short-term rental market has grown rapidly, with Airbnb becoming a dominant platform for travelers worldwide. As competition intensifies, understanding what drives guest satisfaction — and what leads to poor ratings — has become critical for hosts seeking to improve their listings and maximize bookings.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935262"/>
            <a:ext cx="2050602" cy="287139"/>
          </a:xfrm>
          <a:prstGeom prst="roundRect">
            <a:avLst>
              <a:gd name="adj" fmla="val 22118"/>
            </a:avLst>
          </a:prstGeom>
          <a:solidFill>
            <a:srgbClr val="4B2D01"/>
          </a:solidFill>
          <a:ln/>
        </p:spPr>
        <p:txBody>
          <a:bodyPr/>
          <a:lstStyle/>
          <a:p>
            <a:endParaRPr lang="en-US"/>
          </a:p>
        </p:txBody>
      </p:sp>
      <p:sp>
        <p:nvSpPr>
          <p:cNvPr id="3" name="Text 1"/>
          <p:cNvSpPr/>
          <p:nvPr/>
        </p:nvSpPr>
        <p:spPr>
          <a:xfrm>
            <a:off x="774879" y="1991916"/>
            <a:ext cx="2433378" cy="173831"/>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RESEARCH FRAMEWORK</a:t>
            </a:r>
            <a:endParaRPr lang="en-US" sz="1150" dirty="0"/>
          </a:p>
        </p:txBody>
      </p:sp>
      <p:sp>
        <p:nvSpPr>
          <p:cNvPr id="4" name="Text 2"/>
          <p:cNvSpPr/>
          <p:nvPr/>
        </p:nvSpPr>
        <p:spPr>
          <a:xfrm>
            <a:off x="661475" y="229800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Goal &amp; Objective</a:t>
            </a:r>
            <a:endParaRPr lang="en-US" sz="3700" dirty="0"/>
          </a:p>
        </p:txBody>
      </p:sp>
      <p:sp>
        <p:nvSpPr>
          <p:cNvPr id="5" name="Shape 3"/>
          <p:cNvSpPr/>
          <p:nvPr/>
        </p:nvSpPr>
        <p:spPr>
          <a:xfrm>
            <a:off x="525350" y="3172123"/>
            <a:ext cx="5476043" cy="1750616"/>
          </a:xfrm>
          <a:prstGeom prst="roundRect">
            <a:avLst>
              <a:gd name="adj" fmla="val 7774"/>
            </a:avLst>
          </a:prstGeom>
          <a:solidFill>
            <a:srgbClr val="FCB958"/>
          </a:solidFill>
          <a:ln/>
        </p:spPr>
        <p:txBody>
          <a:bodyPr/>
          <a:lstStyle/>
          <a:p>
            <a:endParaRPr lang="en-US"/>
          </a:p>
        </p:txBody>
      </p:sp>
      <p:sp>
        <p:nvSpPr>
          <p:cNvPr id="6" name="Text 4"/>
          <p:cNvSpPr/>
          <p:nvPr/>
        </p:nvSpPr>
        <p:spPr>
          <a:xfrm>
            <a:off x="714357" y="3361134"/>
            <a:ext cx="5098029" cy="295275"/>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Inter Bold" pitchFamily="34" charset="0"/>
                <a:ea typeface="Inter Bold" pitchFamily="34" charset="-122"/>
                <a:cs typeface="Inter Bold" pitchFamily="34" charset="-120"/>
              </a:rPr>
              <a:t>Goal</a:t>
            </a:r>
            <a:endParaRPr lang="en-US" sz="1850" dirty="0"/>
          </a:p>
        </p:txBody>
      </p:sp>
      <p:sp>
        <p:nvSpPr>
          <p:cNvPr id="7" name="Text 5"/>
          <p:cNvSpPr/>
          <p:nvPr/>
        </p:nvSpPr>
        <p:spPr>
          <a:xfrm>
            <a:off x="714357" y="3845421"/>
            <a:ext cx="5098029"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Inter" pitchFamily="34" charset="0"/>
                <a:ea typeface="Inter" pitchFamily="34" charset="-122"/>
                <a:cs typeface="Inter" pitchFamily="34" charset="-120"/>
              </a:rPr>
              <a:t>Identify the characteristics of low-rated Airbnb listings and determine which property features are associated with higher guest satisfaction.</a:t>
            </a:r>
            <a:endParaRPr lang="en-US" sz="1450" dirty="0"/>
          </a:p>
        </p:txBody>
      </p:sp>
      <p:sp>
        <p:nvSpPr>
          <p:cNvPr id="8" name="Text 6"/>
          <p:cNvSpPr/>
          <p:nvPr/>
        </p:nvSpPr>
        <p:spPr>
          <a:xfrm>
            <a:off x="6332776" y="3361134"/>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Objective</a:t>
            </a:r>
            <a:endParaRPr lang="en-US" sz="1850" dirty="0"/>
          </a:p>
        </p:txBody>
      </p:sp>
      <p:sp>
        <p:nvSpPr>
          <p:cNvPr id="9" name="Text 7"/>
          <p:cNvSpPr/>
          <p:nvPr/>
        </p:nvSpPr>
        <p:spPr>
          <a:xfrm>
            <a:off x="6332776" y="3845421"/>
            <a:ext cx="520379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Analyze Airbnb listing characteristics that influence guest ratings and identify practical strategies for improving underperforming listings.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59805"/>
            <a:ext cx="1462448" cy="215305"/>
          </a:xfrm>
          <a:prstGeom prst="roundRect">
            <a:avLst>
              <a:gd name="adj" fmla="val 22123"/>
            </a:avLst>
          </a:prstGeom>
          <a:solidFill>
            <a:srgbClr val="4B2D01"/>
          </a:solidFill>
          <a:ln/>
        </p:spPr>
        <p:txBody>
          <a:bodyPr/>
          <a:lstStyle/>
          <a:p>
            <a:endParaRPr lang="en-US"/>
          </a:p>
        </p:txBody>
      </p:sp>
      <p:sp>
        <p:nvSpPr>
          <p:cNvPr id="3" name="Text 1"/>
          <p:cNvSpPr/>
          <p:nvPr/>
        </p:nvSpPr>
        <p:spPr>
          <a:xfrm>
            <a:off x="746503" y="702270"/>
            <a:ext cx="1901976" cy="130373"/>
          </a:xfrm>
          <a:prstGeom prst="rect">
            <a:avLst/>
          </a:prstGeom>
          <a:noFill/>
          <a:ln/>
        </p:spPr>
        <p:txBody>
          <a:bodyPr wrap="none" lIns="0" tIns="0" rIns="0" bIns="0" rtlCol="0" anchor="t"/>
          <a:lstStyle/>
          <a:p>
            <a:pPr marL="0" indent="0" algn="l">
              <a:lnSpc>
                <a:spcPct val="96000"/>
              </a:lnSpc>
              <a:buNone/>
            </a:pPr>
            <a:r>
              <a:rPr lang="en-US" sz="850" dirty="0">
                <a:solidFill>
                  <a:srgbClr val="FFFFFF"/>
                </a:solidFill>
                <a:latin typeface="Inter" pitchFamily="34" charset="0"/>
                <a:ea typeface="Inter" pitchFamily="34" charset="-122"/>
                <a:cs typeface="Inter" pitchFamily="34" charset="-120"/>
              </a:rPr>
              <a:t>RESEARCH QUESTIONS</a:t>
            </a:r>
            <a:endParaRPr lang="en-US" sz="850" dirty="0"/>
          </a:p>
        </p:txBody>
      </p:sp>
      <p:sp>
        <p:nvSpPr>
          <p:cNvPr id="4" name="Text 2"/>
          <p:cNvSpPr/>
          <p:nvPr/>
        </p:nvSpPr>
        <p:spPr>
          <a:xfrm>
            <a:off x="661475" y="917575"/>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Inter Bold" pitchFamily="34" charset="0"/>
                <a:ea typeface="Inter Bold" pitchFamily="34" charset="-122"/>
                <a:cs typeface="Inter Bold" pitchFamily="34" charset="-120"/>
              </a:rPr>
              <a:t>10 Research Questions</a:t>
            </a:r>
            <a:endParaRPr lang="en-US" sz="27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20031"/>
            <a:ext cx="10868745" cy="850602"/>
          </a:xfrm>
          <a:prstGeom prst="rect">
            <a:avLst/>
          </a:prstGeom>
        </p:spPr>
      </p:pic>
      <p:sp>
        <p:nvSpPr>
          <p:cNvPr id="6" name="Text 3"/>
          <p:cNvSpPr/>
          <p:nvPr/>
        </p:nvSpPr>
        <p:spPr>
          <a:xfrm>
            <a:off x="854550" y="1812429"/>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cs typeface="Inter Bold" pitchFamily="34" charset="-120"/>
              </a:rPr>
              <a:t>1</a:t>
            </a:r>
            <a:endParaRPr lang="en-US" sz="1650" dirty="0"/>
          </a:p>
        </p:txBody>
      </p:sp>
      <p:sp>
        <p:nvSpPr>
          <p:cNvPr id="8" name="Text 5"/>
          <p:cNvSpPr/>
          <p:nvPr/>
        </p:nvSpPr>
        <p:spPr>
          <a:xfrm>
            <a:off x="1353806" y="1763117"/>
            <a:ext cx="10015684" cy="547588"/>
          </a:xfrm>
          <a:prstGeom prst="rect">
            <a:avLst/>
          </a:prstGeom>
          <a:noFill/>
          <a:ln/>
        </p:spPr>
        <p:txBody>
          <a:bodyPr wrap="none" lIns="0" tIns="0" rIns="0" bIns="0" rtlCol="0" anchor="t"/>
          <a:lstStyle/>
          <a:p>
            <a:pPr lvl="0"/>
            <a:r>
              <a:rPr lang="en-US" dirty="0">
                <a:solidFill>
                  <a:schemeClr val="bg1"/>
                </a:solidFill>
              </a:rPr>
              <a:t>What is the distribution of Airbnb listings based on high, average, and low ratings?</a:t>
            </a:r>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76897"/>
            <a:ext cx="10868745" cy="850602"/>
          </a:xfrm>
          <a:prstGeom prst="rect">
            <a:avLst/>
          </a:prstGeom>
        </p:spPr>
      </p:pic>
      <p:sp>
        <p:nvSpPr>
          <p:cNvPr id="10" name="Text 6"/>
          <p:cNvSpPr/>
          <p:nvPr/>
        </p:nvSpPr>
        <p:spPr>
          <a:xfrm>
            <a:off x="854550" y="2769295"/>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cs typeface="Inter Bold" pitchFamily="34" charset="-120"/>
              </a:rPr>
              <a:t>2</a:t>
            </a:r>
            <a:endParaRPr lang="en-US" sz="1650" dirty="0"/>
          </a:p>
        </p:txBody>
      </p:sp>
      <p:sp>
        <p:nvSpPr>
          <p:cNvPr id="12" name="Text 8"/>
          <p:cNvSpPr/>
          <p:nvPr/>
        </p:nvSpPr>
        <p:spPr>
          <a:xfrm>
            <a:off x="1353806" y="2613719"/>
            <a:ext cx="10015684" cy="507505"/>
          </a:xfrm>
          <a:prstGeom prst="rect">
            <a:avLst/>
          </a:prstGeom>
          <a:noFill/>
          <a:ln/>
        </p:spPr>
        <p:txBody>
          <a:bodyPr wrap="none" lIns="0" tIns="0" rIns="0" bIns="0" rtlCol="0" anchor="t"/>
          <a:lstStyle/>
          <a:p>
            <a:pPr lvl="0"/>
            <a:r>
              <a:rPr lang="en-US" dirty="0">
                <a:solidFill>
                  <a:schemeClr val="bg1"/>
                </a:solidFill>
              </a:rPr>
              <a:t>Is there a significant difference in price between poorly rated and highly rated Airbnb listings?</a:t>
            </a:r>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433763"/>
            <a:ext cx="10868745" cy="850602"/>
          </a:xfrm>
          <a:prstGeom prst="rect">
            <a:avLst/>
          </a:prstGeom>
        </p:spPr>
      </p:pic>
      <p:sp>
        <p:nvSpPr>
          <p:cNvPr id="14" name="Text 9"/>
          <p:cNvSpPr/>
          <p:nvPr/>
        </p:nvSpPr>
        <p:spPr>
          <a:xfrm>
            <a:off x="854550" y="3726160"/>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cs typeface="Inter Bold" pitchFamily="34" charset="-120"/>
              </a:rPr>
              <a:t>3</a:t>
            </a:r>
            <a:endParaRPr lang="en-US" sz="1650" dirty="0"/>
          </a:p>
        </p:txBody>
      </p:sp>
      <p:sp>
        <p:nvSpPr>
          <p:cNvPr id="16" name="Text 11"/>
          <p:cNvSpPr/>
          <p:nvPr/>
        </p:nvSpPr>
        <p:spPr>
          <a:xfrm>
            <a:off x="1353806" y="3759844"/>
            <a:ext cx="10015684" cy="198438"/>
          </a:xfrm>
          <a:prstGeom prst="rect">
            <a:avLst/>
          </a:prstGeom>
          <a:noFill/>
          <a:ln/>
        </p:spPr>
        <p:txBody>
          <a:bodyPr wrap="none" lIns="0" tIns="0" rIns="0" bIns="0" rtlCol="0" anchor="t"/>
          <a:lstStyle/>
          <a:p>
            <a:pPr lvl="0"/>
            <a:r>
              <a:rPr lang="en-US" dirty="0">
                <a:solidFill>
                  <a:schemeClr val="bg1"/>
                </a:solidFill>
              </a:rPr>
              <a:t>Which property types are more likely to receive poor guest ratings? </a:t>
            </a:r>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390628"/>
            <a:ext cx="10868745" cy="850602"/>
          </a:xfrm>
          <a:prstGeom prst="rect">
            <a:avLst/>
          </a:prstGeom>
        </p:spPr>
      </p:pic>
      <p:sp>
        <p:nvSpPr>
          <p:cNvPr id="18" name="Text 12"/>
          <p:cNvSpPr/>
          <p:nvPr/>
        </p:nvSpPr>
        <p:spPr>
          <a:xfrm>
            <a:off x="854550" y="4683026"/>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cs typeface="Inter Bold" pitchFamily="34" charset="-120"/>
              </a:rPr>
              <a:t>4</a:t>
            </a:r>
            <a:endParaRPr lang="en-US" sz="1650" dirty="0"/>
          </a:p>
        </p:txBody>
      </p:sp>
      <p:sp>
        <p:nvSpPr>
          <p:cNvPr id="20" name="Text 14"/>
          <p:cNvSpPr/>
          <p:nvPr/>
        </p:nvSpPr>
        <p:spPr>
          <a:xfrm>
            <a:off x="1356687" y="4750395"/>
            <a:ext cx="10015684" cy="198438"/>
          </a:xfrm>
          <a:prstGeom prst="rect">
            <a:avLst/>
          </a:prstGeom>
          <a:noFill/>
          <a:ln/>
        </p:spPr>
        <p:txBody>
          <a:bodyPr wrap="none" lIns="0" tIns="0" rIns="0" bIns="0" rtlCol="0" anchor="t"/>
          <a:lstStyle/>
          <a:p>
            <a:pPr lvl="0"/>
            <a:r>
              <a:rPr lang="en-US" dirty="0">
                <a:solidFill>
                  <a:schemeClr val="bg1"/>
                </a:solidFill>
              </a:rPr>
              <a:t>Do amenities significantly influence the price of Airbnb listings?</a:t>
            </a:r>
          </a:p>
        </p:txBody>
      </p:sp>
      <p:pic>
        <p:nvPicPr>
          <p:cNvPr id="2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5347494"/>
            <a:ext cx="10868745" cy="850602"/>
          </a:xfrm>
          <a:prstGeom prst="rect">
            <a:avLst/>
          </a:prstGeom>
        </p:spPr>
      </p:pic>
      <p:sp>
        <p:nvSpPr>
          <p:cNvPr id="22" name="Text 15"/>
          <p:cNvSpPr/>
          <p:nvPr/>
        </p:nvSpPr>
        <p:spPr>
          <a:xfrm>
            <a:off x="854550" y="5639891"/>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cs typeface="Inter Bold" pitchFamily="34" charset="-120"/>
              </a:rPr>
              <a:t>5</a:t>
            </a:r>
            <a:endParaRPr lang="en-US" sz="1650" dirty="0"/>
          </a:p>
        </p:txBody>
      </p:sp>
      <p:sp>
        <p:nvSpPr>
          <p:cNvPr id="24" name="Text 17"/>
          <p:cNvSpPr/>
          <p:nvPr/>
        </p:nvSpPr>
        <p:spPr>
          <a:xfrm>
            <a:off x="1392699" y="5639891"/>
            <a:ext cx="10015684" cy="198438"/>
          </a:xfrm>
          <a:prstGeom prst="rect">
            <a:avLst/>
          </a:prstGeom>
          <a:noFill/>
          <a:ln/>
        </p:spPr>
        <p:txBody>
          <a:bodyPr wrap="none" lIns="0" tIns="0" rIns="0" bIns="0" rtlCol="0" anchor="t"/>
          <a:lstStyle/>
          <a:p>
            <a:pPr lvl="0"/>
            <a:r>
              <a:rPr lang="en-US" dirty="0">
                <a:solidFill>
                  <a:schemeClr val="bg1"/>
                </a:solidFill>
              </a:rPr>
              <a:t>Do amenities significantly influence Airbnb ratings?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59805"/>
            <a:ext cx="1462448" cy="215305"/>
          </a:xfrm>
          <a:prstGeom prst="roundRect">
            <a:avLst>
              <a:gd name="adj" fmla="val 22123"/>
            </a:avLst>
          </a:prstGeom>
          <a:solidFill>
            <a:srgbClr val="4B2D01"/>
          </a:solidFill>
          <a:ln/>
        </p:spPr>
        <p:txBody>
          <a:bodyPr/>
          <a:lstStyle/>
          <a:p>
            <a:endParaRPr lang="en-US"/>
          </a:p>
        </p:txBody>
      </p:sp>
      <p:sp>
        <p:nvSpPr>
          <p:cNvPr id="3" name="Text 1"/>
          <p:cNvSpPr/>
          <p:nvPr/>
        </p:nvSpPr>
        <p:spPr>
          <a:xfrm>
            <a:off x="746503" y="702270"/>
            <a:ext cx="1901976" cy="130373"/>
          </a:xfrm>
          <a:prstGeom prst="rect">
            <a:avLst/>
          </a:prstGeom>
          <a:noFill/>
          <a:ln/>
        </p:spPr>
        <p:txBody>
          <a:bodyPr wrap="none" lIns="0" tIns="0" rIns="0" bIns="0" rtlCol="0" anchor="t"/>
          <a:lstStyle/>
          <a:p>
            <a:pPr marL="0" indent="0" algn="l">
              <a:lnSpc>
                <a:spcPct val="96000"/>
              </a:lnSpc>
              <a:buNone/>
            </a:pPr>
            <a:r>
              <a:rPr lang="en-US" sz="850" dirty="0">
                <a:solidFill>
                  <a:srgbClr val="FFFFFF"/>
                </a:solidFill>
                <a:latin typeface="Inter" pitchFamily="34" charset="0"/>
                <a:ea typeface="Inter" pitchFamily="34" charset="-122"/>
                <a:cs typeface="Inter" pitchFamily="34" charset="-120"/>
              </a:rPr>
              <a:t>RESEARCH QUESTIONS</a:t>
            </a:r>
            <a:endParaRPr lang="en-US" sz="850" dirty="0"/>
          </a:p>
        </p:txBody>
      </p:sp>
      <p:sp>
        <p:nvSpPr>
          <p:cNvPr id="4" name="Text 2"/>
          <p:cNvSpPr/>
          <p:nvPr/>
        </p:nvSpPr>
        <p:spPr>
          <a:xfrm>
            <a:off x="661475" y="917575"/>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Inter Bold" pitchFamily="34" charset="0"/>
                <a:ea typeface="Inter Bold" pitchFamily="34" charset="-122"/>
                <a:cs typeface="Inter Bold" pitchFamily="34" charset="-120"/>
              </a:rPr>
              <a:t>Research Questions (Continued)</a:t>
            </a:r>
            <a:endParaRPr lang="en-US" sz="27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20031"/>
            <a:ext cx="10868745" cy="850602"/>
          </a:xfrm>
          <a:prstGeom prst="rect">
            <a:avLst/>
          </a:prstGeom>
        </p:spPr>
      </p:pic>
      <p:sp>
        <p:nvSpPr>
          <p:cNvPr id="6" name="Text 3"/>
          <p:cNvSpPr/>
          <p:nvPr/>
        </p:nvSpPr>
        <p:spPr>
          <a:xfrm>
            <a:off x="854550" y="1812429"/>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rPr>
              <a:t>6</a:t>
            </a:r>
            <a:endParaRPr lang="en-US" sz="1650" dirty="0"/>
          </a:p>
        </p:txBody>
      </p:sp>
      <p:sp>
        <p:nvSpPr>
          <p:cNvPr id="8" name="Text 5"/>
          <p:cNvSpPr/>
          <p:nvPr/>
        </p:nvSpPr>
        <p:spPr>
          <a:xfrm>
            <a:off x="1353806" y="1846113"/>
            <a:ext cx="10015684" cy="198438"/>
          </a:xfrm>
          <a:prstGeom prst="rect">
            <a:avLst/>
          </a:prstGeom>
          <a:noFill/>
          <a:ln/>
        </p:spPr>
        <p:txBody>
          <a:bodyPr wrap="none" lIns="0" tIns="0" rIns="0" bIns="0" rtlCol="0" anchor="t"/>
          <a:lstStyle/>
          <a:p>
            <a:pPr lvl="0"/>
            <a:r>
              <a:rPr lang="en-US" dirty="0">
                <a:solidFill>
                  <a:schemeClr val="bg1"/>
                </a:solidFill>
              </a:rPr>
              <a:t>Does the location of an Airbnb listing significantly influence guest ratings?</a:t>
            </a:r>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76897"/>
            <a:ext cx="10868745" cy="850602"/>
          </a:xfrm>
          <a:prstGeom prst="rect">
            <a:avLst/>
          </a:prstGeom>
        </p:spPr>
      </p:pic>
      <p:sp>
        <p:nvSpPr>
          <p:cNvPr id="10" name="Text 6"/>
          <p:cNvSpPr/>
          <p:nvPr/>
        </p:nvSpPr>
        <p:spPr>
          <a:xfrm>
            <a:off x="854550" y="2769295"/>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rPr>
              <a:t>7</a:t>
            </a:r>
            <a:endParaRPr lang="en-US" sz="1650" dirty="0"/>
          </a:p>
        </p:txBody>
      </p:sp>
      <p:sp>
        <p:nvSpPr>
          <p:cNvPr id="12" name="Text 8"/>
          <p:cNvSpPr/>
          <p:nvPr/>
        </p:nvSpPr>
        <p:spPr>
          <a:xfrm>
            <a:off x="1353806" y="2769295"/>
            <a:ext cx="10015684" cy="198438"/>
          </a:xfrm>
          <a:prstGeom prst="rect">
            <a:avLst/>
          </a:prstGeom>
          <a:noFill/>
          <a:ln/>
        </p:spPr>
        <p:txBody>
          <a:bodyPr wrap="none" lIns="0" tIns="0" rIns="0" bIns="0" rtlCol="0" anchor="t"/>
          <a:lstStyle/>
          <a:p>
            <a:pPr lvl="0"/>
            <a:r>
              <a:rPr lang="en-US" dirty="0">
                <a:solidFill>
                  <a:schemeClr val="bg1"/>
                </a:solidFill>
              </a:rPr>
              <a:t>Does the location of an Airbnb listing significantly influence Airbnb prices?</a:t>
            </a:r>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433763"/>
            <a:ext cx="10868745" cy="850602"/>
          </a:xfrm>
          <a:prstGeom prst="rect">
            <a:avLst/>
          </a:prstGeom>
        </p:spPr>
      </p:pic>
      <p:sp>
        <p:nvSpPr>
          <p:cNvPr id="14" name="Text 9"/>
          <p:cNvSpPr/>
          <p:nvPr/>
        </p:nvSpPr>
        <p:spPr>
          <a:xfrm>
            <a:off x="854550" y="3726160"/>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rPr>
              <a:t>8</a:t>
            </a:r>
            <a:endParaRPr lang="en-US" sz="1650" dirty="0"/>
          </a:p>
        </p:txBody>
      </p:sp>
      <p:sp>
        <p:nvSpPr>
          <p:cNvPr id="16" name="Text 11"/>
          <p:cNvSpPr/>
          <p:nvPr/>
        </p:nvSpPr>
        <p:spPr>
          <a:xfrm>
            <a:off x="1353806" y="3759844"/>
            <a:ext cx="10015684" cy="198438"/>
          </a:xfrm>
          <a:prstGeom prst="rect">
            <a:avLst/>
          </a:prstGeom>
          <a:noFill/>
          <a:ln/>
        </p:spPr>
        <p:txBody>
          <a:bodyPr wrap="none" lIns="0" tIns="0" rIns="0" bIns="0" rtlCol="0" anchor="t"/>
          <a:lstStyle/>
          <a:p>
            <a:pPr lvl="0"/>
            <a:r>
              <a:rPr lang="en-US" dirty="0">
                <a:solidFill>
                  <a:schemeClr val="bg1"/>
                </a:solidFill>
              </a:rPr>
              <a:t>Does the number of reviews significantly influence Airbnb ratings?</a:t>
            </a:r>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390628"/>
            <a:ext cx="10868745" cy="850602"/>
          </a:xfrm>
          <a:prstGeom prst="rect">
            <a:avLst/>
          </a:prstGeom>
        </p:spPr>
      </p:pic>
      <p:sp>
        <p:nvSpPr>
          <p:cNvPr id="18" name="Text 12"/>
          <p:cNvSpPr/>
          <p:nvPr/>
        </p:nvSpPr>
        <p:spPr>
          <a:xfrm>
            <a:off x="854550" y="4683026"/>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rPr>
              <a:t>9</a:t>
            </a:r>
            <a:endParaRPr lang="en-US" sz="1650" dirty="0"/>
          </a:p>
        </p:txBody>
      </p:sp>
      <p:sp>
        <p:nvSpPr>
          <p:cNvPr id="20" name="Text 14"/>
          <p:cNvSpPr/>
          <p:nvPr/>
        </p:nvSpPr>
        <p:spPr>
          <a:xfrm>
            <a:off x="1353806" y="4683026"/>
            <a:ext cx="10015684" cy="198438"/>
          </a:xfrm>
          <a:prstGeom prst="rect">
            <a:avLst/>
          </a:prstGeom>
          <a:noFill/>
          <a:ln/>
        </p:spPr>
        <p:txBody>
          <a:bodyPr wrap="none" lIns="0" tIns="0" rIns="0" bIns="0" rtlCol="0" anchor="t"/>
          <a:lstStyle/>
          <a:p>
            <a:pPr lvl="0"/>
            <a:r>
              <a:rPr lang="en-US" dirty="0">
                <a:solidFill>
                  <a:schemeClr val="bg1"/>
                </a:solidFill>
              </a:rPr>
              <a:t>Which month has the highest number of reviews and the highest average Airbnb rating?</a:t>
            </a:r>
          </a:p>
        </p:txBody>
      </p:sp>
      <p:pic>
        <p:nvPicPr>
          <p:cNvPr id="2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4" y="5256913"/>
            <a:ext cx="10868745" cy="850602"/>
          </a:xfrm>
          <a:prstGeom prst="rect">
            <a:avLst/>
          </a:prstGeom>
        </p:spPr>
      </p:pic>
      <p:sp>
        <p:nvSpPr>
          <p:cNvPr id="22" name="Text 15"/>
          <p:cNvSpPr/>
          <p:nvPr/>
        </p:nvSpPr>
        <p:spPr>
          <a:xfrm>
            <a:off x="854550" y="5639891"/>
            <a:ext cx="212620" cy="265807"/>
          </a:xfrm>
          <a:prstGeom prst="rect">
            <a:avLst/>
          </a:prstGeom>
          <a:noFill/>
          <a:ln/>
        </p:spPr>
        <p:txBody>
          <a:bodyPr wrap="none" lIns="0" tIns="0" rIns="0" bIns="0" rtlCol="0" anchor="ctr"/>
          <a:lstStyle/>
          <a:p>
            <a:pPr marL="0" indent="0" algn="ctr">
              <a:lnSpc>
                <a:spcPct val="100000"/>
              </a:lnSpc>
              <a:buNone/>
            </a:pPr>
            <a:r>
              <a:rPr lang="en-US" sz="1650" b="1" dirty="0">
                <a:solidFill>
                  <a:srgbClr val="FFFFFF"/>
                </a:solidFill>
                <a:latin typeface="Inter Bold" pitchFamily="34" charset="0"/>
                <a:ea typeface="Inter Bold" pitchFamily="34" charset="-122"/>
              </a:rPr>
              <a:t>10</a:t>
            </a:r>
            <a:endParaRPr lang="en-US" sz="1650" dirty="0"/>
          </a:p>
        </p:txBody>
      </p:sp>
      <p:sp>
        <p:nvSpPr>
          <p:cNvPr id="24" name="Text 17"/>
          <p:cNvSpPr/>
          <p:nvPr/>
        </p:nvSpPr>
        <p:spPr>
          <a:xfrm>
            <a:off x="1321766" y="5543952"/>
            <a:ext cx="10015684" cy="198438"/>
          </a:xfrm>
          <a:prstGeom prst="rect">
            <a:avLst/>
          </a:prstGeom>
          <a:noFill/>
          <a:ln/>
        </p:spPr>
        <p:txBody>
          <a:bodyPr wrap="none" lIns="0" tIns="0" rIns="0" bIns="0" rtlCol="0" anchor="t"/>
          <a:lstStyle/>
          <a:p>
            <a:pPr lvl="0"/>
            <a:r>
              <a:rPr lang="en-US" sz="1600" dirty="0">
                <a:solidFill>
                  <a:schemeClr val="bg1"/>
                </a:solidFill>
              </a:rPr>
              <a:t>What improvements should Airbnb hosts prioritize to transform poorly rated listings into highly rated accommodations?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46298"/>
            <a:ext cx="1049609" cy="243979"/>
          </a:xfrm>
          <a:prstGeom prst="roundRect">
            <a:avLst>
              <a:gd name="adj" fmla="val 22126"/>
            </a:avLst>
          </a:prstGeom>
          <a:solidFill>
            <a:srgbClr val="4B2D01"/>
          </a:solidFill>
          <a:ln/>
        </p:spPr>
        <p:txBody>
          <a:bodyPr/>
          <a:lstStyle/>
          <a:p>
            <a:endParaRPr lang="en-US"/>
          </a:p>
        </p:txBody>
      </p:sp>
      <p:sp>
        <p:nvSpPr>
          <p:cNvPr id="3" name="Text 1"/>
          <p:cNvSpPr/>
          <p:nvPr/>
        </p:nvSpPr>
        <p:spPr>
          <a:xfrm>
            <a:off x="757814" y="594420"/>
            <a:ext cx="1466516" cy="147737"/>
          </a:xfrm>
          <a:prstGeom prst="rect">
            <a:avLst/>
          </a:prstGeom>
          <a:noFill/>
          <a:ln/>
        </p:spPr>
        <p:txBody>
          <a:bodyPr wrap="none" lIns="0" tIns="0" rIns="0" bIns="0" rtlCol="0" anchor="t"/>
          <a:lstStyle/>
          <a:p>
            <a:pPr marL="0" indent="0" algn="l">
              <a:lnSpc>
                <a:spcPct val="96000"/>
              </a:lnSpc>
              <a:buNone/>
            </a:pPr>
            <a:r>
              <a:rPr lang="en-US" sz="1000" dirty="0">
                <a:solidFill>
                  <a:srgbClr val="FFFFFF"/>
                </a:solidFill>
                <a:latin typeface="Inter" pitchFamily="34" charset="0"/>
                <a:ea typeface="Inter" pitchFamily="34" charset="-122"/>
                <a:cs typeface="Inter" pitchFamily="34" charset="-120"/>
              </a:rPr>
              <a:t>HYPOTHESES</a:t>
            </a:r>
            <a:endParaRPr lang="en-US" sz="1000" dirty="0"/>
          </a:p>
        </p:txBody>
      </p:sp>
      <p:sp>
        <p:nvSpPr>
          <p:cNvPr id="4" name="Text 2"/>
          <p:cNvSpPr/>
          <p:nvPr/>
        </p:nvSpPr>
        <p:spPr>
          <a:xfrm>
            <a:off x="661475" y="844848"/>
            <a:ext cx="10868745" cy="502047"/>
          </a:xfrm>
          <a:prstGeom prst="rect">
            <a:avLst/>
          </a:prstGeom>
          <a:noFill/>
          <a:ln/>
        </p:spPr>
        <p:txBody>
          <a:bodyPr wrap="none" lIns="0" tIns="0" rIns="0" bIns="0" rtlCol="0" anchor="t"/>
          <a:lstStyle/>
          <a:p>
            <a:pPr marL="0" indent="0" algn="l">
              <a:lnSpc>
                <a:spcPct val="104000"/>
              </a:lnSpc>
              <a:buNone/>
            </a:pPr>
            <a:r>
              <a:rPr lang="en-US" sz="3150" b="1" dirty="0">
                <a:solidFill>
                  <a:srgbClr val="FFFFFF"/>
                </a:solidFill>
                <a:latin typeface="Inter Bold" pitchFamily="34" charset="0"/>
                <a:ea typeface="Inter Bold" pitchFamily="34" charset="-122"/>
                <a:cs typeface="Inter Bold" pitchFamily="34" charset="-120"/>
              </a:rPr>
              <a:t>Statistical Hypotheses</a:t>
            </a:r>
            <a:endParaRPr lang="en-US" sz="3150" dirty="0"/>
          </a:p>
        </p:txBody>
      </p:sp>
      <p:sp>
        <p:nvSpPr>
          <p:cNvPr id="5" name="Text 3"/>
          <p:cNvSpPr/>
          <p:nvPr/>
        </p:nvSpPr>
        <p:spPr>
          <a:xfrm>
            <a:off x="661475" y="3082230"/>
            <a:ext cx="5238421"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Inter" pitchFamily="34" charset="0"/>
                <a:ea typeface="Inter" pitchFamily="34" charset="-122"/>
                <a:cs typeface="Inter" pitchFamily="34" charset="-120"/>
              </a:rPr>
              <a:t>Each research question was tested using null (H₀) and alternative (H₁) hypotheses to determine statistical significance across price, property type, amenities, location, and review volume.</a:t>
            </a:r>
            <a:endParaRPr lang="en-US" sz="1250" dirty="0"/>
          </a:p>
        </p:txBody>
      </p:sp>
      <p:sp>
        <p:nvSpPr>
          <p:cNvPr id="6" name="Shape 4"/>
          <p:cNvSpPr/>
          <p:nvPr/>
        </p:nvSpPr>
        <p:spPr>
          <a:xfrm>
            <a:off x="661475" y="3949005"/>
            <a:ext cx="5238421" cy="801291"/>
          </a:xfrm>
          <a:prstGeom prst="roundRect">
            <a:avLst>
              <a:gd name="adj" fmla="val 8421"/>
            </a:avLst>
          </a:prstGeom>
          <a:solidFill>
            <a:srgbClr val="7D4B0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22106" y="4162822"/>
            <a:ext cx="200814" cy="160635"/>
          </a:xfrm>
          <a:prstGeom prst="rect">
            <a:avLst/>
          </a:prstGeom>
        </p:spPr>
      </p:pic>
      <p:sp>
        <p:nvSpPr>
          <p:cNvPr id="8" name="Text 5"/>
          <p:cNvSpPr/>
          <p:nvPr/>
        </p:nvSpPr>
        <p:spPr>
          <a:xfrm>
            <a:off x="1183551" y="4111923"/>
            <a:ext cx="4555713"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Inter" pitchFamily="34" charset="0"/>
                <a:ea typeface="Inter" pitchFamily="34" charset="-122"/>
                <a:cs typeface="Inter" pitchFamily="34" charset="-120"/>
              </a:rPr>
              <a:t>All hypotheses were tested at a standard significance level to ensure rigorous, reproducible findings.</a:t>
            </a:r>
            <a:endParaRPr lang="en-US" sz="1250" dirty="0"/>
          </a:p>
        </p:txBody>
      </p:sp>
      <p:pic>
        <p:nvPicPr>
          <p:cNvPr id="9" name="Image 1" descr="preencoded.png"/>
          <p:cNvPicPr>
            <a:picLocks noChangeAspect="1"/>
          </p:cNvPicPr>
          <p:nvPr/>
        </p:nvPicPr>
        <p:blipFill>
          <a:blip r:embed="rId4"/>
          <a:stretch>
            <a:fillRect/>
          </a:stretch>
        </p:blipFill>
        <p:spPr>
          <a:xfrm>
            <a:off x="6298149" y="1705273"/>
            <a:ext cx="4452628" cy="44527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669131"/>
            <a:ext cx="1130569" cy="229691"/>
          </a:xfrm>
          <a:prstGeom prst="roundRect">
            <a:avLst>
              <a:gd name="adj" fmla="val 22120"/>
            </a:avLst>
          </a:prstGeom>
          <a:solidFill>
            <a:srgbClr val="4B2D01"/>
          </a:solidFill>
          <a:ln/>
        </p:spPr>
        <p:txBody>
          <a:bodyPr/>
          <a:lstStyle/>
          <a:p>
            <a:endParaRPr lang="en-US"/>
          </a:p>
        </p:txBody>
      </p:sp>
      <p:sp>
        <p:nvSpPr>
          <p:cNvPr id="3" name="Text 1"/>
          <p:cNvSpPr/>
          <p:nvPr/>
        </p:nvSpPr>
        <p:spPr>
          <a:xfrm>
            <a:off x="752159" y="714474"/>
            <a:ext cx="1558787" cy="139005"/>
          </a:xfrm>
          <a:prstGeom prst="rect">
            <a:avLst/>
          </a:prstGeom>
          <a:noFill/>
          <a:ln/>
        </p:spPr>
        <p:txBody>
          <a:bodyPr wrap="none" lIns="0" tIns="0" rIns="0" bIns="0" rtlCol="0" anchor="t"/>
          <a:lstStyle/>
          <a:p>
            <a:pPr marL="0" indent="0" algn="l">
              <a:lnSpc>
                <a:spcPct val="96000"/>
              </a:lnSpc>
              <a:buNone/>
            </a:pPr>
            <a:r>
              <a:rPr lang="en-US" sz="950" dirty="0">
                <a:solidFill>
                  <a:srgbClr val="FFFFFF"/>
                </a:solidFill>
                <a:latin typeface="Inter" pitchFamily="34" charset="0"/>
                <a:ea typeface="Inter" pitchFamily="34" charset="-122"/>
                <a:cs typeface="Inter" pitchFamily="34" charset="-120"/>
              </a:rPr>
              <a:t>METHODOLOGY</a:t>
            </a:r>
            <a:endParaRPr lang="en-US" sz="950" dirty="0"/>
          </a:p>
        </p:txBody>
      </p:sp>
      <p:sp>
        <p:nvSpPr>
          <p:cNvPr id="4" name="Text 2"/>
          <p:cNvSpPr/>
          <p:nvPr/>
        </p:nvSpPr>
        <p:spPr>
          <a:xfrm>
            <a:off x="661475" y="947142"/>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FFFFFF"/>
                </a:solidFill>
                <a:latin typeface="Inter Bold" pitchFamily="34" charset="0"/>
                <a:ea typeface="Inter Bold" pitchFamily="34" charset="-122"/>
                <a:cs typeface="Inter Bold" pitchFamily="34" charset="-120"/>
              </a:rPr>
              <a:t>Data Cleaning &amp; Insights</a:t>
            </a:r>
            <a:endParaRPr lang="en-US" sz="2950" dirty="0"/>
          </a:p>
        </p:txBody>
      </p:sp>
      <p:sp>
        <p:nvSpPr>
          <p:cNvPr id="5" name="Shape 3"/>
          <p:cNvSpPr/>
          <p:nvPr/>
        </p:nvSpPr>
        <p:spPr>
          <a:xfrm>
            <a:off x="661475" y="1600994"/>
            <a:ext cx="10868745" cy="4587875"/>
          </a:xfrm>
          <a:prstGeom prst="roundRect">
            <a:avLst>
              <a:gd name="adj" fmla="val 1384"/>
            </a:avLst>
          </a:prstGeom>
          <a:noFill/>
          <a:ln w="6350">
            <a:solidFill>
              <a:srgbClr val="FFFFFF">
                <a:alpha val="24000"/>
              </a:srgbClr>
            </a:solidFill>
            <a:prstDash val="solid"/>
          </a:ln>
        </p:spPr>
        <p:txBody>
          <a:bodyPr/>
          <a:lstStyle/>
          <a:p>
            <a:endParaRPr lang="en-US"/>
          </a:p>
        </p:txBody>
      </p:sp>
      <p:sp>
        <p:nvSpPr>
          <p:cNvPr id="6" name="Shape 4"/>
          <p:cNvSpPr/>
          <p:nvPr/>
        </p:nvSpPr>
        <p:spPr>
          <a:xfrm>
            <a:off x="661475" y="1985962"/>
            <a:ext cx="10868745" cy="9451"/>
          </a:xfrm>
          <a:prstGeom prst="rect">
            <a:avLst/>
          </a:prstGeom>
          <a:solidFill>
            <a:srgbClr val="FFFFFF">
              <a:alpha val="24000"/>
            </a:srgbClr>
          </a:solidFill>
          <a:ln/>
        </p:spPr>
        <p:txBody>
          <a:bodyPr/>
          <a:lstStyle/>
          <a:p>
            <a:endParaRPr lang="en-US"/>
          </a:p>
        </p:txBody>
      </p:sp>
      <p:sp>
        <p:nvSpPr>
          <p:cNvPr id="7" name="Shape 5"/>
          <p:cNvSpPr/>
          <p:nvPr/>
        </p:nvSpPr>
        <p:spPr>
          <a:xfrm>
            <a:off x="661475" y="2367756"/>
            <a:ext cx="10868745" cy="9451"/>
          </a:xfrm>
          <a:prstGeom prst="rect">
            <a:avLst/>
          </a:prstGeom>
          <a:solidFill>
            <a:srgbClr val="FFFFFF">
              <a:alpha val="24000"/>
            </a:srgbClr>
          </a:solidFill>
          <a:ln/>
        </p:spPr>
        <p:txBody>
          <a:bodyPr/>
          <a:lstStyle/>
          <a:p>
            <a:endParaRPr lang="en-US"/>
          </a:p>
        </p:txBody>
      </p:sp>
      <p:sp>
        <p:nvSpPr>
          <p:cNvPr id="8" name="Shape 6"/>
          <p:cNvSpPr/>
          <p:nvPr/>
        </p:nvSpPr>
        <p:spPr>
          <a:xfrm>
            <a:off x="661475" y="2749550"/>
            <a:ext cx="10868745" cy="9451"/>
          </a:xfrm>
          <a:prstGeom prst="rect">
            <a:avLst/>
          </a:prstGeom>
          <a:solidFill>
            <a:srgbClr val="FFFFFF">
              <a:alpha val="24000"/>
            </a:srgbClr>
          </a:solidFill>
          <a:ln/>
        </p:spPr>
        <p:txBody>
          <a:bodyPr/>
          <a:lstStyle/>
          <a:p>
            <a:endParaRPr lang="en-US"/>
          </a:p>
        </p:txBody>
      </p:sp>
      <p:sp>
        <p:nvSpPr>
          <p:cNvPr id="9" name="Shape 7"/>
          <p:cNvSpPr/>
          <p:nvPr/>
        </p:nvSpPr>
        <p:spPr>
          <a:xfrm>
            <a:off x="661475" y="3131344"/>
            <a:ext cx="10868745" cy="9451"/>
          </a:xfrm>
          <a:prstGeom prst="rect">
            <a:avLst/>
          </a:prstGeom>
          <a:solidFill>
            <a:srgbClr val="FFFFFF">
              <a:alpha val="24000"/>
            </a:srgbClr>
          </a:solidFill>
          <a:ln/>
        </p:spPr>
        <p:txBody>
          <a:bodyPr/>
          <a:lstStyle/>
          <a:p>
            <a:endParaRPr lang="en-US"/>
          </a:p>
        </p:txBody>
      </p:sp>
      <p:sp>
        <p:nvSpPr>
          <p:cNvPr id="10" name="Shape 8"/>
          <p:cNvSpPr/>
          <p:nvPr/>
        </p:nvSpPr>
        <p:spPr>
          <a:xfrm>
            <a:off x="661475" y="3513138"/>
            <a:ext cx="10868745" cy="9451"/>
          </a:xfrm>
          <a:prstGeom prst="rect">
            <a:avLst/>
          </a:prstGeom>
          <a:solidFill>
            <a:srgbClr val="FFFFFF">
              <a:alpha val="24000"/>
            </a:srgbClr>
          </a:solidFill>
          <a:ln/>
        </p:spPr>
        <p:txBody>
          <a:bodyPr/>
          <a:lstStyle/>
          <a:p>
            <a:endParaRPr lang="en-US"/>
          </a:p>
        </p:txBody>
      </p:sp>
      <p:sp>
        <p:nvSpPr>
          <p:cNvPr id="11" name="Shape 9"/>
          <p:cNvSpPr/>
          <p:nvPr/>
        </p:nvSpPr>
        <p:spPr>
          <a:xfrm>
            <a:off x="661475" y="3894931"/>
            <a:ext cx="10868745" cy="9451"/>
          </a:xfrm>
          <a:prstGeom prst="rect">
            <a:avLst/>
          </a:prstGeom>
          <a:solidFill>
            <a:srgbClr val="FFFFFF">
              <a:alpha val="24000"/>
            </a:srgbClr>
          </a:solidFill>
          <a:ln/>
        </p:spPr>
        <p:txBody>
          <a:bodyPr/>
          <a:lstStyle/>
          <a:p>
            <a:endParaRPr lang="en-US"/>
          </a:p>
        </p:txBody>
      </p:sp>
      <p:sp>
        <p:nvSpPr>
          <p:cNvPr id="12" name="Shape 10"/>
          <p:cNvSpPr/>
          <p:nvPr/>
        </p:nvSpPr>
        <p:spPr>
          <a:xfrm>
            <a:off x="661475" y="4276725"/>
            <a:ext cx="10868745" cy="9451"/>
          </a:xfrm>
          <a:prstGeom prst="rect">
            <a:avLst/>
          </a:prstGeom>
          <a:solidFill>
            <a:srgbClr val="FFFFFF">
              <a:alpha val="24000"/>
            </a:srgbClr>
          </a:solidFill>
          <a:ln/>
        </p:spPr>
        <p:txBody>
          <a:bodyPr/>
          <a:lstStyle/>
          <a:p>
            <a:endParaRPr lang="en-US"/>
          </a:p>
        </p:txBody>
      </p:sp>
      <p:sp>
        <p:nvSpPr>
          <p:cNvPr id="13" name="Shape 11"/>
          <p:cNvSpPr/>
          <p:nvPr/>
        </p:nvSpPr>
        <p:spPr>
          <a:xfrm>
            <a:off x="661475" y="4658519"/>
            <a:ext cx="10868745" cy="9451"/>
          </a:xfrm>
          <a:prstGeom prst="rect">
            <a:avLst/>
          </a:prstGeom>
          <a:solidFill>
            <a:srgbClr val="FFFFFF">
              <a:alpha val="24000"/>
            </a:srgbClr>
          </a:solidFill>
          <a:ln/>
        </p:spPr>
        <p:txBody>
          <a:bodyPr/>
          <a:lstStyle/>
          <a:p>
            <a:endParaRPr lang="en-US"/>
          </a:p>
        </p:txBody>
      </p:sp>
      <p:sp>
        <p:nvSpPr>
          <p:cNvPr id="14" name="Shape 12"/>
          <p:cNvSpPr/>
          <p:nvPr/>
        </p:nvSpPr>
        <p:spPr>
          <a:xfrm>
            <a:off x="661475" y="5040313"/>
            <a:ext cx="10868745" cy="9451"/>
          </a:xfrm>
          <a:prstGeom prst="rect">
            <a:avLst/>
          </a:prstGeom>
          <a:solidFill>
            <a:srgbClr val="FFFFFF">
              <a:alpha val="24000"/>
            </a:srgbClr>
          </a:solidFill>
          <a:ln/>
        </p:spPr>
        <p:txBody>
          <a:bodyPr/>
          <a:lstStyle/>
          <a:p>
            <a:endParaRPr lang="en-US"/>
          </a:p>
        </p:txBody>
      </p:sp>
      <p:sp>
        <p:nvSpPr>
          <p:cNvPr id="15" name="Shape 13"/>
          <p:cNvSpPr/>
          <p:nvPr/>
        </p:nvSpPr>
        <p:spPr>
          <a:xfrm>
            <a:off x="661475" y="5422106"/>
            <a:ext cx="10868745" cy="9451"/>
          </a:xfrm>
          <a:prstGeom prst="rect">
            <a:avLst/>
          </a:prstGeom>
          <a:solidFill>
            <a:srgbClr val="FFFFFF">
              <a:alpha val="24000"/>
            </a:srgbClr>
          </a:solidFill>
          <a:ln/>
        </p:spPr>
        <p:txBody>
          <a:bodyPr/>
          <a:lstStyle/>
          <a:p>
            <a:endParaRPr lang="en-US"/>
          </a:p>
        </p:txBody>
      </p:sp>
      <p:sp>
        <p:nvSpPr>
          <p:cNvPr id="16" name="Shape 14"/>
          <p:cNvSpPr/>
          <p:nvPr/>
        </p:nvSpPr>
        <p:spPr>
          <a:xfrm>
            <a:off x="661475" y="5803900"/>
            <a:ext cx="10868745" cy="9451"/>
          </a:xfrm>
          <a:prstGeom prst="rect">
            <a:avLst/>
          </a:prstGeom>
          <a:solidFill>
            <a:srgbClr val="FFFFFF">
              <a:alpha val="24000"/>
            </a:srgbClr>
          </a:solidFill>
          <a:ln/>
        </p:spPr>
        <p:txBody>
          <a:bodyPr/>
          <a:lstStyle/>
          <a:p>
            <a:endParaRPr lang="en-US"/>
          </a:p>
        </p:txBody>
      </p:sp>
      <p:sp>
        <p:nvSpPr>
          <p:cNvPr id="17" name="Text 15"/>
          <p:cNvSpPr/>
          <p:nvPr/>
        </p:nvSpPr>
        <p:spPr>
          <a:xfrm>
            <a:off x="819130" y="1686223"/>
            <a:ext cx="4106760" cy="217686"/>
          </a:xfrm>
          <a:prstGeom prst="rect">
            <a:avLst/>
          </a:prstGeom>
          <a:noFill/>
          <a:ln/>
        </p:spPr>
        <p:txBody>
          <a:bodyPr wrap="none" lIns="0" tIns="0" rIns="0" bIns="0" rtlCol="0" anchor="t"/>
          <a:lstStyle/>
          <a:p>
            <a:pPr marL="0" indent="0" algn="l">
              <a:lnSpc>
                <a:spcPct val="120000"/>
              </a:lnSpc>
              <a:buNone/>
            </a:pPr>
            <a:r>
              <a:rPr lang="en-US" sz="1150" b="1" dirty="0">
                <a:solidFill>
                  <a:srgbClr val="FFFFFF"/>
                </a:solidFill>
                <a:latin typeface="Inter Bold" pitchFamily="34" charset="0"/>
                <a:ea typeface="Inter Bold" pitchFamily="34" charset="-122"/>
                <a:cs typeface="Inter Bold" pitchFamily="34" charset="-120"/>
              </a:rPr>
              <a:t>Roadblock</a:t>
            </a:r>
            <a:endParaRPr lang="en-US" sz="1150" dirty="0"/>
          </a:p>
        </p:txBody>
      </p:sp>
      <p:sp>
        <p:nvSpPr>
          <p:cNvPr id="18" name="Text 16"/>
          <p:cNvSpPr/>
          <p:nvPr/>
        </p:nvSpPr>
        <p:spPr>
          <a:xfrm>
            <a:off x="4618716" y="1686223"/>
            <a:ext cx="7363534" cy="217686"/>
          </a:xfrm>
          <a:prstGeom prst="rect">
            <a:avLst/>
          </a:prstGeom>
          <a:noFill/>
          <a:ln/>
        </p:spPr>
        <p:txBody>
          <a:bodyPr wrap="none" lIns="0" tIns="0" rIns="0" bIns="0" rtlCol="0" anchor="t"/>
          <a:lstStyle/>
          <a:p>
            <a:pPr marL="0" indent="0" algn="l">
              <a:lnSpc>
                <a:spcPct val="120000"/>
              </a:lnSpc>
              <a:buNone/>
            </a:pPr>
            <a:r>
              <a:rPr lang="en-US" sz="1150" b="1" dirty="0">
                <a:solidFill>
                  <a:srgbClr val="FFFFFF"/>
                </a:solidFill>
                <a:latin typeface="Inter Bold" pitchFamily="34" charset="0"/>
                <a:ea typeface="Inter Bold" pitchFamily="34" charset="-122"/>
                <a:cs typeface="Inter Bold" pitchFamily="34" charset="-120"/>
              </a:rPr>
              <a:t>How It Was Addressed</a:t>
            </a:r>
            <a:endParaRPr lang="en-US" sz="1150" dirty="0"/>
          </a:p>
        </p:txBody>
      </p:sp>
      <p:sp>
        <p:nvSpPr>
          <p:cNvPr id="19" name="Text 17"/>
          <p:cNvSpPr/>
          <p:nvPr/>
        </p:nvSpPr>
        <p:spPr>
          <a:xfrm>
            <a:off x="819130" y="2068016"/>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Missing ratings</a:t>
            </a:r>
            <a:endParaRPr lang="en-US" sz="1150" dirty="0"/>
          </a:p>
        </p:txBody>
      </p:sp>
      <p:sp>
        <p:nvSpPr>
          <p:cNvPr id="20" name="Text 18"/>
          <p:cNvSpPr/>
          <p:nvPr/>
        </p:nvSpPr>
        <p:spPr>
          <a:xfrm>
            <a:off x="4618716" y="2068016"/>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Identified and handled during cleaning</a:t>
            </a:r>
            <a:endParaRPr lang="en-US" sz="1150" dirty="0"/>
          </a:p>
        </p:txBody>
      </p:sp>
      <p:sp>
        <p:nvSpPr>
          <p:cNvPr id="21" name="Text 19"/>
          <p:cNvSpPr/>
          <p:nvPr/>
        </p:nvSpPr>
        <p:spPr>
          <a:xfrm>
            <a:off x="819130" y="2449810"/>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Duplicate listings</a:t>
            </a:r>
            <a:endParaRPr lang="en-US" sz="1150" dirty="0"/>
          </a:p>
        </p:txBody>
      </p:sp>
      <p:sp>
        <p:nvSpPr>
          <p:cNvPr id="22" name="Text 20"/>
          <p:cNvSpPr/>
          <p:nvPr/>
        </p:nvSpPr>
        <p:spPr>
          <a:xfrm>
            <a:off x="4618716" y="2449810"/>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Counted, inspected, and removed</a:t>
            </a:r>
            <a:endParaRPr lang="en-US" sz="1150" dirty="0"/>
          </a:p>
        </p:txBody>
      </p:sp>
      <p:sp>
        <p:nvSpPr>
          <p:cNvPr id="23" name="Text 21"/>
          <p:cNvSpPr/>
          <p:nvPr/>
        </p:nvSpPr>
        <p:spPr>
          <a:xfrm>
            <a:off x="819130" y="2831604"/>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Price format</a:t>
            </a:r>
            <a:endParaRPr lang="en-US" sz="1150" dirty="0"/>
          </a:p>
        </p:txBody>
      </p:sp>
      <p:sp>
        <p:nvSpPr>
          <p:cNvPr id="24" name="Text 22"/>
          <p:cNvSpPr/>
          <p:nvPr/>
        </p:nvSpPr>
        <p:spPr>
          <a:xfrm>
            <a:off x="4618716" y="2831604"/>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Converted to numeric values</a:t>
            </a:r>
            <a:endParaRPr lang="en-US" sz="1150" dirty="0"/>
          </a:p>
        </p:txBody>
      </p:sp>
      <p:sp>
        <p:nvSpPr>
          <p:cNvPr id="25" name="Text 23"/>
          <p:cNvSpPr/>
          <p:nvPr/>
        </p:nvSpPr>
        <p:spPr>
          <a:xfrm>
            <a:off x="819130" y="3213398"/>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Inconsistent property info</a:t>
            </a:r>
            <a:endParaRPr lang="en-US" sz="1150" dirty="0"/>
          </a:p>
        </p:txBody>
      </p:sp>
      <p:sp>
        <p:nvSpPr>
          <p:cNvPr id="26" name="Text 24"/>
          <p:cNvSpPr/>
          <p:nvPr/>
        </p:nvSpPr>
        <p:spPr>
          <a:xfrm>
            <a:off x="4618716" y="3213398"/>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Cleaned and standardized fields</a:t>
            </a:r>
            <a:endParaRPr lang="en-US" sz="1150" dirty="0"/>
          </a:p>
        </p:txBody>
      </p:sp>
      <p:sp>
        <p:nvSpPr>
          <p:cNvPr id="27" name="Text 25"/>
          <p:cNvSpPr/>
          <p:nvPr/>
        </p:nvSpPr>
        <p:spPr>
          <a:xfrm>
            <a:off x="819130" y="3595191"/>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Location formatting</a:t>
            </a:r>
            <a:endParaRPr lang="en-US" sz="1150" dirty="0"/>
          </a:p>
        </p:txBody>
      </p:sp>
      <p:sp>
        <p:nvSpPr>
          <p:cNvPr id="28" name="Text 26"/>
          <p:cNvSpPr/>
          <p:nvPr/>
        </p:nvSpPr>
        <p:spPr>
          <a:xfrm>
            <a:off x="4618716" y="3595191"/>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Restructured into City and Country</a:t>
            </a:r>
            <a:endParaRPr lang="en-US" sz="1150" dirty="0"/>
          </a:p>
        </p:txBody>
      </p:sp>
      <p:sp>
        <p:nvSpPr>
          <p:cNvPr id="29" name="Text 27"/>
          <p:cNvSpPr/>
          <p:nvPr/>
        </p:nvSpPr>
        <p:spPr>
          <a:xfrm>
            <a:off x="819130" y="3976985"/>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Special characters</a:t>
            </a:r>
            <a:endParaRPr lang="en-US" sz="1150" dirty="0"/>
          </a:p>
        </p:txBody>
      </p:sp>
      <p:sp>
        <p:nvSpPr>
          <p:cNvPr id="30" name="Text 28"/>
          <p:cNvSpPr/>
          <p:nvPr/>
        </p:nvSpPr>
        <p:spPr>
          <a:xfrm>
            <a:off x="4618716" y="3976985"/>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Removed invalid listings</a:t>
            </a:r>
            <a:endParaRPr lang="en-US" sz="1150" dirty="0"/>
          </a:p>
        </p:txBody>
      </p:sp>
      <p:sp>
        <p:nvSpPr>
          <p:cNvPr id="31" name="Text 29"/>
          <p:cNvSpPr/>
          <p:nvPr/>
        </p:nvSpPr>
        <p:spPr>
          <a:xfrm>
            <a:off x="819130" y="4358779"/>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Amenities in text</a:t>
            </a:r>
            <a:endParaRPr lang="en-US" sz="1150" dirty="0"/>
          </a:p>
        </p:txBody>
      </p:sp>
      <p:sp>
        <p:nvSpPr>
          <p:cNvPr id="32" name="Text 30"/>
          <p:cNvSpPr/>
          <p:nvPr/>
        </p:nvSpPr>
        <p:spPr>
          <a:xfrm>
            <a:off x="4618716" y="4358779"/>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Extracted keywords; created Amenity Count</a:t>
            </a:r>
            <a:endParaRPr lang="en-US" sz="1150" dirty="0"/>
          </a:p>
        </p:txBody>
      </p:sp>
      <p:sp>
        <p:nvSpPr>
          <p:cNvPr id="33" name="Text 31"/>
          <p:cNvSpPr/>
          <p:nvPr/>
        </p:nvSpPr>
        <p:spPr>
          <a:xfrm>
            <a:off x="819130" y="4740573"/>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Python &amp; MySQL</a:t>
            </a:r>
            <a:endParaRPr lang="en-US" sz="1150" dirty="0"/>
          </a:p>
        </p:txBody>
      </p:sp>
      <p:sp>
        <p:nvSpPr>
          <p:cNvPr id="34" name="Text 32"/>
          <p:cNvSpPr/>
          <p:nvPr/>
        </p:nvSpPr>
        <p:spPr>
          <a:xfrm>
            <a:off x="4618716" y="4740573"/>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Cleaned in Python, loaded into MySQL</a:t>
            </a:r>
            <a:endParaRPr lang="en-US" sz="1150" dirty="0"/>
          </a:p>
        </p:txBody>
      </p:sp>
      <p:sp>
        <p:nvSpPr>
          <p:cNvPr id="35" name="Text 33"/>
          <p:cNvSpPr/>
          <p:nvPr/>
        </p:nvSpPr>
        <p:spPr>
          <a:xfrm>
            <a:off x="819130" y="5122366"/>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SQL column names</a:t>
            </a:r>
            <a:endParaRPr lang="en-US" sz="1150" dirty="0"/>
          </a:p>
        </p:txBody>
      </p:sp>
      <p:sp>
        <p:nvSpPr>
          <p:cNvPr id="36" name="Text 34"/>
          <p:cNvSpPr/>
          <p:nvPr/>
        </p:nvSpPr>
        <p:spPr>
          <a:xfrm>
            <a:off x="4618716" y="5122366"/>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Used backticks for spaced names</a:t>
            </a:r>
            <a:endParaRPr lang="en-US" sz="1150" dirty="0"/>
          </a:p>
        </p:txBody>
      </p:sp>
      <p:sp>
        <p:nvSpPr>
          <p:cNvPr id="37" name="Text 35"/>
          <p:cNvSpPr/>
          <p:nvPr/>
        </p:nvSpPr>
        <p:spPr>
          <a:xfrm>
            <a:off x="819130" y="5504160"/>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Uneven rating groups</a:t>
            </a:r>
            <a:endParaRPr lang="en-US" sz="1150" dirty="0"/>
          </a:p>
        </p:txBody>
      </p:sp>
      <p:sp>
        <p:nvSpPr>
          <p:cNvPr id="38" name="Text 36"/>
          <p:cNvSpPr/>
          <p:nvPr/>
        </p:nvSpPr>
        <p:spPr>
          <a:xfrm>
            <a:off x="4618716" y="5504160"/>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Only 20 low-rated — comparisons made cautiously</a:t>
            </a:r>
            <a:endParaRPr lang="en-US" sz="1150" dirty="0"/>
          </a:p>
        </p:txBody>
      </p:sp>
      <p:sp>
        <p:nvSpPr>
          <p:cNvPr id="39" name="Text 37"/>
          <p:cNvSpPr/>
          <p:nvPr/>
        </p:nvSpPr>
        <p:spPr>
          <a:xfrm>
            <a:off x="819130" y="5885954"/>
            <a:ext cx="4106760"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Uneven monthly data</a:t>
            </a:r>
            <a:endParaRPr lang="en-US" sz="1150" dirty="0"/>
          </a:p>
        </p:txBody>
      </p:sp>
      <p:sp>
        <p:nvSpPr>
          <p:cNvPr id="40" name="Text 38"/>
          <p:cNvSpPr/>
          <p:nvPr/>
        </p:nvSpPr>
        <p:spPr>
          <a:xfrm>
            <a:off x="4618716" y="5885954"/>
            <a:ext cx="7363534" cy="217686"/>
          </a:xfrm>
          <a:prstGeom prst="rect">
            <a:avLst/>
          </a:prstGeom>
          <a:noFill/>
          <a:ln/>
        </p:spPr>
        <p:txBody>
          <a:bodyPr wrap="none" lIns="0" tIns="0" rIns="0" bIns="0" rtlCol="0" anchor="t"/>
          <a:lstStyle/>
          <a:p>
            <a:pPr marL="0" indent="0" algn="l">
              <a:lnSpc>
                <a:spcPct val="120000"/>
              </a:lnSpc>
              <a:buNone/>
            </a:pPr>
            <a:r>
              <a:rPr lang="en-US" sz="1150" dirty="0">
                <a:solidFill>
                  <a:srgbClr val="FFFFFF"/>
                </a:solidFill>
                <a:latin typeface="Inter" pitchFamily="34" charset="0"/>
                <a:ea typeface="Inter" pitchFamily="34" charset="-122"/>
                <a:cs typeface="Inter" pitchFamily="34" charset="-120"/>
              </a:rPr>
              <a:t>Treated monthly findings with caution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666055"/>
            <a:ext cx="2356783" cy="282674"/>
          </a:xfrm>
          <a:prstGeom prst="roundRect">
            <a:avLst>
              <a:gd name="adj" fmla="val 22117"/>
            </a:avLst>
          </a:prstGeom>
          <a:solidFill>
            <a:srgbClr val="4B2D01"/>
          </a:solidFill>
          <a:ln/>
        </p:spPr>
        <p:txBody>
          <a:bodyPr/>
          <a:lstStyle/>
          <a:p>
            <a:endParaRPr lang="en-US"/>
          </a:p>
        </p:txBody>
      </p:sp>
      <p:sp>
        <p:nvSpPr>
          <p:cNvPr id="3" name="Text 1"/>
          <p:cNvSpPr/>
          <p:nvPr/>
        </p:nvSpPr>
        <p:spPr>
          <a:xfrm>
            <a:off x="773093" y="721816"/>
            <a:ext cx="2743131" cy="171152"/>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RQ1 — RATING DISTRIBUTION</a:t>
            </a:r>
            <a:endParaRPr lang="en-US" sz="1150" dirty="0"/>
          </a:p>
        </p:txBody>
      </p:sp>
      <p:sp>
        <p:nvSpPr>
          <p:cNvPr id="4" name="Text 2"/>
          <p:cNvSpPr/>
          <p:nvPr/>
        </p:nvSpPr>
        <p:spPr>
          <a:xfrm>
            <a:off x="661475" y="1021953"/>
            <a:ext cx="10868745" cy="581422"/>
          </a:xfrm>
          <a:prstGeom prst="rect">
            <a:avLst/>
          </a:prstGeom>
          <a:noFill/>
          <a:ln/>
        </p:spPr>
        <p:txBody>
          <a:bodyPr wrap="none" lIns="0" tIns="0" rIns="0" bIns="0" rtlCol="0" anchor="t"/>
          <a:lstStyle/>
          <a:p>
            <a:pPr marL="0" indent="0" algn="l">
              <a:lnSpc>
                <a:spcPct val="104000"/>
              </a:lnSpc>
              <a:buNone/>
            </a:pPr>
            <a:r>
              <a:rPr lang="en-US" sz="3650" b="1" dirty="0">
                <a:solidFill>
                  <a:srgbClr val="FFFFFF"/>
                </a:solidFill>
                <a:latin typeface="Inter Bold" pitchFamily="34" charset="0"/>
                <a:ea typeface="Inter Bold" pitchFamily="34" charset="-122"/>
                <a:cs typeface="Inter Bold" pitchFamily="34" charset="-120"/>
              </a:rPr>
              <a:t>How Are Listings Distributed by Rating?</a:t>
            </a:r>
            <a:endParaRPr lang="en-US" sz="3650" dirty="0"/>
          </a:p>
        </p:txBody>
      </p:sp>
      <p:pic>
        <p:nvPicPr>
          <p:cNvPr id="5" name="Image 0" descr="preencoded.png"/>
          <p:cNvPicPr>
            <a:picLocks noChangeAspect="1"/>
          </p:cNvPicPr>
          <p:nvPr/>
        </p:nvPicPr>
        <p:blipFill>
          <a:blip r:embed="rId3"/>
          <a:stretch>
            <a:fillRect/>
          </a:stretch>
        </p:blipFill>
        <p:spPr>
          <a:xfrm>
            <a:off x="661475" y="2084090"/>
            <a:ext cx="5207465" cy="3748385"/>
          </a:xfrm>
          <a:prstGeom prst="rect">
            <a:avLst/>
          </a:prstGeom>
        </p:spPr>
      </p:pic>
      <p:sp>
        <p:nvSpPr>
          <p:cNvPr id="6" name="Text 3"/>
          <p:cNvSpPr/>
          <p:nvPr/>
        </p:nvSpPr>
        <p:spPr>
          <a:xfrm>
            <a:off x="6329105" y="2061270"/>
            <a:ext cx="5207465" cy="290711"/>
          </a:xfrm>
          <a:prstGeom prst="rect">
            <a:avLst/>
          </a:prstGeom>
          <a:noFill/>
          <a:ln/>
        </p:spPr>
        <p:txBody>
          <a:bodyPr wrap="none" lIns="0" tIns="0" rIns="0" bIns="0" rtlCol="0" anchor="t"/>
          <a:lstStyle/>
          <a:p>
            <a:pPr marL="0" indent="0" algn="l">
              <a:lnSpc>
                <a:spcPct val="104000"/>
              </a:lnSpc>
              <a:buNone/>
            </a:pPr>
            <a:r>
              <a:rPr lang="en-US" sz="1800" b="1" dirty="0">
                <a:solidFill>
                  <a:srgbClr val="FFFFFF"/>
                </a:solidFill>
                <a:latin typeface="Inter Bold" pitchFamily="34" charset="0"/>
                <a:ea typeface="Inter Bold" pitchFamily="34" charset="-122"/>
                <a:cs typeface="Inter Bold" pitchFamily="34" charset="-120"/>
              </a:rPr>
              <a:t>Key Finding</a:t>
            </a:r>
            <a:endParaRPr lang="en-US" sz="1800" dirty="0"/>
          </a:p>
        </p:txBody>
      </p:sp>
      <p:sp>
        <p:nvSpPr>
          <p:cNvPr id="7" name="Text 4"/>
          <p:cNvSpPr/>
          <p:nvPr/>
        </p:nvSpPr>
        <p:spPr>
          <a:xfrm>
            <a:off x="6329105" y="2535138"/>
            <a:ext cx="5207465" cy="1936452"/>
          </a:xfrm>
          <a:prstGeom prst="rect">
            <a:avLst/>
          </a:prstGeom>
          <a:noFill/>
          <a:ln/>
        </p:spPr>
        <p:txBody>
          <a:bodyPr wrap="square" lIns="0" tIns="0" rIns="0" bIns="0" rtlCol="0" anchor="t">
            <a:normAutofit/>
          </a:bodyPr>
          <a:lstStyle/>
          <a:p>
            <a:pPr marL="0" indent="0" algn="l">
              <a:lnSpc>
                <a:spcPct val="132000"/>
              </a:lnSpc>
              <a:spcAft>
                <a:spcPts val="1250"/>
              </a:spcAft>
              <a:buNone/>
            </a:pPr>
            <a:r>
              <a:rPr lang="en-US" sz="1450" dirty="0">
                <a:solidFill>
                  <a:srgbClr val="FFFFFF"/>
                </a:solidFill>
                <a:latin typeface="Inter" pitchFamily="34" charset="0"/>
                <a:ea typeface="Inter" pitchFamily="34" charset="-122"/>
                <a:cs typeface="Inter" pitchFamily="34" charset="-120"/>
              </a:rPr>
              <a:t>The vast majority of Airbnb listings — </a:t>
            </a:r>
            <a:r>
              <a:rPr lang="en-US" sz="1450" b="1" dirty="0">
                <a:solidFill>
                  <a:srgbClr val="FFFFFF"/>
                </a:solidFill>
                <a:latin typeface="Inter Bold" pitchFamily="34" charset="0"/>
                <a:ea typeface="Inter Bold" pitchFamily="34" charset="-122"/>
                <a:cs typeface="Inter Bold" pitchFamily="34" charset="-120"/>
              </a:rPr>
              <a:t>76.16%</a:t>
            </a:r>
            <a:r>
              <a:rPr lang="en-US" sz="1450" dirty="0">
                <a:solidFill>
                  <a:srgbClr val="FFFFFF"/>
                </a:solidFill>
                <a:latin typeface="Inter" pitchFamily="34" charset="0"/>
                <a:ea typeface="Inter" pitchFamily="34" charset="-122"/>
                <a:cs typeface="Inter" pitchFamily="34" charset="-120"/>
              </a:rPr>
              <a:t> — fall into the high-rated category. Only </a:t>
            </a:r>
            <a:r>
              <a:rPr lang="en-US" sz="1450" b="1" dirty="0">
                <a:solidFill>
                  <a:srgbClr val="FFFFFF"/>
                </a:solidFill>
                <a:latin typeface="Inter Bold" pitchFamily="34" charset="0"/>
                <a:ea typeface="Inter Bold" pitchFamily="34" charset="-122"/>
                <a:cs typeface="Inter Bold" pitchFamily="34" charset="-120"/>
              </a:rPr>
              <a:t>3.31%</a:t>
            </a:r>
            <a:r>
              <a:rPr lang="en-US" sz="1450" dirty="0">
                <a:solidFill>
                  <a:srgbClr val="FFFFFF"/>
                </a:solidFill>
                <a:latin typeface="Inter" pitchFamily="34" charset="0"/>
                <a:ea typeface="Inter" pitchFamily="34" charset="-122"/>
                <a:cs typeface="Inter" pitchFamily="34" charset="-120"/>
              </a:rPr>
              <a:t> are classified as low-rated, representing just 20 listings out of the total dataset.</a:t>
            </a:r>
            <a:endParaRPr lang="en-US" sz="1450" dirty="0"/>
          </a:p>
          <a:p>
            <a:pPr marL="0" indent="0" algn="l">
              <a:lnSpc>
                <a:spcPct val="132000"/>
              </a:lnSpc>
              <a:buNone/>
            </a:pPr>
            <a:r>
              <a:rPr lang="en-US" sz="1450" dirty="0">
                <a:solidFill>
                  <a:srgbClr val="FFFFFF"/>
                </a:solidFill>
                <a:latin typeface="Inter" pitchFamily="34" charset="0"/>
                <a:ea typeface="Inter" pitchFamily="34" charset="-122"/>
                <a:cs typeface="Inter" pitchFamily="34" charset="-120"/>
              </a:rPr>
              <a:t>This skewed distribution highlights that poor ratings are relatively rare, but understanding their root causes remains essential for helping underperforming hosts improve.</a:t>
            </a:r>
            <a:endParaRPr lang="en-US" sz="1450" dirty="0"/>
          </a:p>
        </p:txBody>
      </p:sp>
      <p:sp>
        <p:nvSpPr>
          <p:cNvPr id="8" name="Shape 5"/>
          <p:cNvSpPr/>
          <p:nvPr/>
        </p:nvSpPr>
        <p:spPr>
          <a:xfrm>
            <a:off x="6329105" y="4677569"/>
            <a:ext cx="5207465" cy="1308298"/>
          </a:xfrm>
          <a:prstGeom prst="roundRect">
            <a:avLst>
              <a:gd name="adj" fmla="val 5973"/>
            </a:avLst>
          </a:prstGeom>
          <a:solidFill>
            <a:srgbClr val="7D4B02"/>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6515135" y="4953893"/>
            <a:ext cx="232563" cy="186035"/>
          </a:xfrm>
          <a:prstGeom prst="rect">
            <a:avLst/>
          </a:prstGeom>
        </p:spPr>
      </p:pic>
      <p:sp>
        <p:nvSpPr>
          <p:cNvPr id="10" name="Text 6"/>
          <p:cNvSpPr/>
          <p:nvPr/>
        </p:nvSpPr>
        <p:spPr>
          <a:xfrm>
            <a:off x="6933729" y="4888805"/>
            <a:ext cx="4416811" cy="88582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FFFFFF"/>
                </a:solidFill>
                <a:latin typeface="Inter" pitchFamily="34" charset="0"/>
                <a:ea typeface="Inter" pitchFamily="34" charset="-122"/>
                <a:cs typeface="Inter" pitchFamily="34" charset="-120"/>
              </a:rPr>
              <a:t>Low-rated listings (n=20) require careful statistical handling when compared to the 460 high-rated listings.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41052"/>
            <a:ext cx="1856436" cy="243979"/>
          </a:xfrm>
          <a:prstGeom prst="roundRect">
            <a:avLst>
              <a:gd name="adj" fmla="val 22126"/>
            </a:avLst>
          </a:prstGeom>
          <a:solidFill>
            <a:srgbClr val="4B2D01"/>
          </a:solidFill>
          <a:ln/>
        </p:spPr>
        <p:txBody>
          <a:bodyPr/>
          <a:lstStyle/>
          <a:p>
            <a:endParaRPr lang="en-US"/>
          </a:p>
        </p:txBody>
      </p:sp>
      <p:sp>
        <p:nvSpPr>
          <p:cNvPr id="3" name="Text 1"/>
          <p:cNvSpPr/>
          <p:nvPr/>
        </p:nvSpPr>
        <p:spPr>
          <a:xfrm>
            <a:off x="757814" y="689173"/>
            <a:ext cx="2273342" cy="147737"/>
          </a:xfrm>
          <a:prstGeom prst="rect">
            <a:avLst/>
          </a:prstGeom>
          <a:noFill/>
          <a:ln/>
        </p:spPr>
        <p:txBody>
          <a:bodyPr wrap="none" lIns="0" tIns="0" rIns="0" bIns="0" rtlCol="0" anchor="t"/>
          <a:lstStyle/>
          <a:p>
            <a:pPr marL="0" indent="0" algn="l">
              <a:lnSpc>
                <a:spcPct val="96000"/>
              </a:lnSpc>
              <a:buNone/>
            </a:pPr>
            <a:r>
              <a:rPr lang="en-US" sz="1000" dirty="0">
                <a:solidFill>
                  <a:srgbClr val="FFFFFF"/>
                </a:solidFill>
                <a:latin typeface="Inter" pitchFamily="34" charset="0"/>
                <a:ea typeface="Inter" pitchFamily="34" charset="-122"/>
                <a:cs typeface="Inter" pitchFamily="34" charset="-120"/>
              </a:rPr>
              <a:t>RQ2 — PRICE VS. RATINGS</a:t>
            </a:r>
            <a:endParaRPr lang="en-US" sz="1000" dirty="0"/>
          </a:p>
        </p:txBody>
      </p:sp>
      <p:sp>
        <p:nvSpPr>
          <p:cNvPr id="4" name="Text 2"/>
          <p:cNvSpPr/>
          <p:nvPr/>
        </p:nvSpPr>
        <p:spPr>
          <a:xfrm>
            <a:off x="661475" y="939602"/>
            <a:ext cx="10868745" cy="502047"/>
          </a:xfrm>
          <a:prstGeom prst="rect">
            <a:avLst/>
          </a:prstGeom>
          <a:noFill/>
          <a:ln/>
        </p:spPr>
        <p:txBody>
          <a:bodyPr wrap="none" lIns="0" tIns="0" rIns="0" bIns="0" rtlCol="0" anchor="t"/>
          <a:lstStyle/>
          <a:p>
            <a:pPr marL="0" indent="0" algn="l">
              <a:lnSpc>
                <a:spcPct val="104000"/>
              </a:lnSpc>
              <a:buNone/>
            </a:pPr>
            <a:r>
              <a:rPr lang="en-US" sz="3150" b="1" dirty="0">
                <a:solidFill>
                  <a:srgbClr val="FFFFFF"/>
                </a:solidFill>
                <a:latin typeface="Inter Bold" pitchFamily="34" charset="0"/>
                <a:ea typeface="Inter Bold" pitchFamily="34" charset="-122"/>
                <a:cs typeface="Inter Bold" pitchFamily="34" charset="-120"/>
              </a:rPr>
              <a:t>Do Poorly Rated Listings Cost Less?</a:t>
            </a:r>
            <a:endParaRPr lang="en-US" sz="3150" dirty="0"/>
          </a:p>
        </p:txBody>
      </p:sp>
      <p:pic>
        <p:nvPicPr>
          <p:cNvPr id="5" name="Image 0" descr="preencoded.png"/>
          <p:cNvPicPr>
            <a:picLocks noChangeAspect="1"/>
          </p:cNvPicPr>
          <p:nvPr/>
        </p:nvPicPr>
        <p:blipFill>
          <a:blip r:embed="rId3"/>
          <a:stretch>
            <a:fillRect/>
          </a:stretch>
        </p:blipFill>
        <p:spPr>
          <a:xfrm>
            <a:off x="661475" y="1800027"/>
            <a:ext cx="4452628" cy="3205063"/>
          </a:xfrm>
          <a:prstGeom prst="rect">
            <a:avLst/>
          </a:prstGeom>
        </p:spPr>
      </p:pic>
      <p:sp>
        <p:nvSpPr>
          <p:cNvPr id="6" name="Text 3"/>
          <p:cNvSpPr/>
          <p:nvPr/>
        </p:nvSpPr>
        <p:spPr>
          <a:xfrm>
            <a:off x="6298149" y="1782961"/>
            <a:ext cx="5238421" cy="251023"/>
          </a:xfrm>
          <a:prstGeom prst="rect">
            <a:avLst/>
          </a:prstGeom>
          <a:noFill/>
          <a:ln/>
        </p:spPr>
        <p:txBody>
          <a:bodyPr wrap="none" lIns="0" tIns="0" rIns="0" bIns="0" rtlCol="0" anchor="t"/>
          <a:lstStyle/>
          <a:p>
            <a:pPr marL="0" indent="0" algn="l">
              <a:lnSpc>
                <a:spcPct val="104000"/>
              </a:lnSpc>
              <a:buNone/>
            </a:pPr>
            <a:r>
              <a:rPr lang="en-US" sz="1550" b="1" dirty="0">
                <a:solidFill>
                  <a:srgbClr val="FFFFFF"/>
                </a:solidFill>
                <a:latin typeface="Inter Bold" pitchFamily="34" charset="0"/>
                <a:ea typeface="Inter Bold" pitchFamily="34" charset="-122"/>
                <a:cs typeface="Inter Bold" pitchFamily="34" charset="-120"/>
              </a:rPr>
              <a:t>Price Gap Analysis</a:t>
            </a:r>
            <a:endParaRPr lang="en-US" sz="1550" dirty="0"/>
          </a:p>
        </p:txBody>
      </p:sp>
      <p:sp>
        <p:nvSpPr>
          <p:cNvPr id="7" name="Text 4"/>
          <p:cNvSpPr/>
          <p:nvPr/>
        </p:nvSpPr>
        <p:spPr>
          <a:xfrm>
            <a:off x="6298149" y="2170509"/>
            <a:ext cx="5238421" cy="1311473"/>
          </a:xfrm>
          <a:prstGeom prst="rect">
            <a:avLst/>
          </a:prstGeom>
          <a:noFill/>
          <a:ln/>
        </p:spPr>
        <p:txBody>
          <a:bodyPr wrap="square" lIns="0" tIns="0" rIns="0" bIns="0" rtlCol="0" anchor="t">
            <a:normAutofit/>
          </a:bodyPr>
          <a:lstStyle/>
          <a:p>
            <a:pPr marL="0" indent="0" algn="l">
              <a:lnSpc>
                <a:spcPct val="123000"/>
              </a:lnSpc>
              <a:spcAft>
                <a:spcPts val="950"/>
              </a:spcAft>
              <a:buNone/>
            </a:pPr>
            <a:r>
              <a:rPr lang="en-US" sz="1250" dirty="0">
                <a:solidFill>
                  <a:srgbClr val="FFFFFF"/>
                </a:solidFill>
                <a:latin typeface="Inter" pitchFamily="34" charset="0"/>
                <a:ea typeface="Inter" pitchFamily="34" charset="-122"/>
                <a:cs typeface="Inter" pitchFamily="34" charset="-120"/>
              </a:rPr>
              <a:t>Highly rated listings command significantly higher prices — an average of </a:t>
            </a:r>
            <a:r>
              <a:rPr lang="en-US" sz="1250" b="1" dirty="0">
                <a:solidFill>
                  <a:srgbClr val="FFFFFF"/>
                </a:solidFill>
                <a:latin typeface="Inter Bold" pitchFamily="34" charset="0"/>
                <a:ea typeface="Inter Bold" pitchFamily="34" charset="-122"/>
                <a:cs typeface="Inter Bold" pitchFamily="34" charset="-120"/>
              </a:rPr>
              <a:t>$168.93</a:t>
            </a:r>
            <a:r>
              <a:rPr lang="en-US" sz="1250" dirty="0">
                <a:solidFill>
                  <a:srgbClr val="FFFFFF"/>
                </a:solidFill>
                <a:latin typeface="Inter" pitchFamily="34" charset="0"/>
                <a:ea typeface="Inter" pitchFamily="34" charset="-122"/>
                <a:cs typeface="Inter" pitchFamily="34" charset="-120"/>
              </a:rPr>
              <a:t> versus </a:t>
            </a:r>
            <a:r>
              <a:rPr lang="en-US" sz="1250" b="1" dirty="0">
                <a:solidFill>
                  <a:srgbClr val="FFFFFF"/>
                </a:solidFill>
                <a:latin typeface="Inter Bold" pitchFamily="34" charset="0"/>
                <a:ea typeface="Inter Bold" pitchFamily="34" charset="-122"/>
                <a:cs typeface="Inter Bold" pitchFamily="34" charset="-120"/>
              </a:rPr>
              <a:t>$102.55</a:t>
            </a:r>
            <a:r>
              <a:rPr lang="en-US" sz="1250" dirty="0">
                <a:solidFill>
                  <a:srgbClr val="FFFFFF"/>
                </a:solidFill>
                <a:latin typeface="Inter" pitchFamily="34" charset="0"/>
                <a:ea typeface="Inter" pitchFamily="34" charset="-122"/>
                <a:cs typeface="Inter" pitchFamily="34" charset="-120"/>
              </a:rPr>
              <a:t> for low-rated listings, a difference of nearly </a:t>
            </a:r>
            <a:r>
              <a:rPr lang="en-US" sz="1250" b="1" dirty="0">
                <a:solidFill>
                  <a:srgbClr val="FCB958"/>
                </a:solidFill>
                <a:latin typeface="Inter Bold" pitchFamily="34" charset="0"/>
                <a:ea typeface="Inter Bold" pitchFamily="34" charset="-122"/>
                <a:cs typeface="Inter Bold" pitchFamily="34" charset="-120"/>
              </a:rPr>
              <a:t>$66</a:t>
            </a:r>
            <a:r>
              <a:rPr lang="en-US" sz="1250" dirty="0">
                <a:solidFill>
                  <a:srgbClr val="FFFFFF"/>
                </a:solidFill>
                <a:latin typeface="Inter" pitchFamily="34" charset="0"/>
                <a:ea typeface="Inter" pitchFamily="34" charset="-122"/>
                <a:cs typeface="Inter" pitchFamily="34" charset="-120"/>
              </a:rPr>
              <a:t>.</a:t>
            </a:r>
            <a:endParaRPr lang="en-US" sz="1250" dirty="0"/>
          </a:p>
          <a:p>
            <a:pPr marL="0" indent="0" algn="l">
              <a:lnSpc>
                <a:spcPct val="123000"/>
              </a:lnSpc>
              <a:buNone/>
            </a:pPr>
            <a:r>
              <a:rPr lang="en-US" sz="1250" dirty="0">
                <a:solidFill>
                  <a:srgbClr val="FFFFFF"/>
                </a:solidFill>
                <a:latin typeface="Inter" pitchFamily="34" charset="0"/>
                <a:ea typeface="Inter" pitchFamily="34" charset="-122"/>
                <a:cs typeface="Inter" pitchFamily="34" charset="-120"/>
              </a:rPr>
              <a:t>Median prices reinforce this trend: </a:t>
            </a:r>
            <a:r>
              <a:rPr lang="en-US" sz="1250" b="1" dirty="0">
                <a:solidFill>
                  <a:srgbClr val="FFFFFF"/>
                </a:solidFill>
                <a:latin typeface="Inter Bold" pitchFamily="34" charset="0"/>
                <a:ea typeface="Inter Bold" pitchFamily="34" charset="-122"/>
                <a:cs typeface="Inter Bold" pitchFamily="34" charset="-120"/>
              </a:rPr>
              <a:t>$131</a:t>
            </a:r>
            <a:r>
              <a:rPr lang="en-US" sz="1250" dirty="0">
                <a:solidFill>
                  <a:srgbClr val="FFFFFF"/>
                </a:solidFill>
                <a:latin typeface="Inter" pitchFamily="34" charset="0"/>
                <a:ea typeface="Inter" pitchFamily="34" charset="-122"/>
                <a:cs typeface="Inter" pitchFamily="34" charset="-120"/>
              </a:rPr>
              <a:t> (high) vs. </a:t>
            </a:r>
            <a:r>
              <a:rPr lang="en-US" sz="1250" b="1" dirty="0">
                <a:solidFill>
                  <a:srgbClr val="FFFFFF"/>
                </a:solidFill>
                <a:latin typeface="Inter Bold" pitchFamily="34" charset="0"/>
                <a:ea typeface="Inter Bold" pitchFamily="34" charset="-122"/>
                <a:cs typeface="Inter Bold" pitchFamily="34" charset="-120"/>
              </a:rPr>
              <a:t>$79</a:t>
            </a:r>
            <a:r>
              <a:rPr lang="en-US" sz="1250" dirty="0">
                <a:solidFill>
                  <a:srgbClr val="FFFFFF"/>
                </a:solidFill>
                <a:latin typeface="Inter" pitchFamily="34" charset="0"/>
                <a:ea typeface="Inter" pitchFamily="34" charset="-122"/>
                <a:cs typeface="Inter" pitchFamily="34" charset="-120"/>
              </a:rPr>
              <a:t> (low), suggesting the gap is not driven by outliers.</a:t>
            </a:r>
            <a:endParaRPr lang="en-US" sz="1250" dirty="0"/>
          </a:p>
        </p:txBody>
      </p:sp>
      <p:sp>
        <p:nvSpPr>
          <p:cNvPr id="8" name="Shape 5"/>
          <p:cNvSpPr/>
          <p:nvPr/>
        </p:nvSpPr>
        <p:spPr>
          <a:xfrm>
            <a:off x="661475" y="5312271"/>
            <a:ext cx="5366112" cy="904577"/>
          </a:xfrm>
          <a:prstGeom prst="roundRect">
            <a:avLst>
              <a:gd name="adj" fmla="val 7460"/>
            </a:avLst>
          </a:prstGeom>
          <a:solidFill>
            <a:srgbClr val="7D4B02"/>
          </a:solidFill>
          <a:ln w="6350">
            <a:solidFill>
              <a:srgbClr val="96641B"/>
            </a:solidFill>
            <a:prstDash val="solid"/>
          </a:ln>
        </p:spPr>
        <p:txBody>
          <a:bodyPr/>
          <a:lstStyle/>
          <a:p>
            <a:endParaRPr lang="en-US"/>
          </a:p>
        </p:txBody>
      </p:sp>
      <p:sp>
        <p:nvSpPr>
          <p:cNvPr id="9" name="Text 6"/>
          <p:cNvSpPr/>
          <p:nvPr/>
        </p:nvSpPr>
        <p:spPr>
          <a:xfrm>
            <a:off x="828456" y="5479256"/>
            <a:ext cx="5032150" cy="251023"/>
          </a:xfrm>
          <a:prstGeom prst="rect">
            <a:avLst/>
          </a:prstGeom>
          <a:noFill/>
          <a:ln/>
        </p:spPr>
        <p:txBody>
          <a:bodyPr wrap="none" lIns="0" tIns="0" rIns="0" bIns="0" rtlCol="0" anchor="t"/>
          <a:lstStyle/>
          <a:p>
            <a:pPr marL="0" indent="0" algn="l">
              <a:lnSpc>
                <a:spcPct val="104000"/>
              </a:lnSpc>
              <a:buNone/>
            </a:pPr>
            <a:r>
              <a:rPr lang="en-US" sz="1550" b="1" dirty="0">
                <a:solidFill>
                  <a:srgbClr val="FFFFFF"/>
                </a:solidFill>
                <a:latin typeface="Inter Bold" pitchFamily="34" charset="0"/>
                <a:ea typeface="Inter Bold" pitchFamily="34" charset="-122"/>
                <a:cs typeface="Inter Bold" pitchFamily="34" charset="-120"/>
              </a:rPr>
              <a:t>20</a:t>
            </a:r>
            <a:endParaRPr lang="en-US" sz="1550" dirty="0"/>
          </a:p>
        </p:txBody>
      </p:sp>
      <p:sp>
        <p:nvSpPr>
          <p:cNvPr id="10" name="Text 7"/>
          <p:cNvSpPr/>
          <p:nvPr/>
        </p:nvSpPr>
        <p:spPr>
          <a:xfrm>
            <a:off x="828456" y="5812135"/>
            <a:ext cx="5032150" cy="237728"/>
          </a:xfrm>
          <a:prstGeom prst="rect">
            <a:avLst/>
          </a:prstGeom>
          <a:noFill/>
          <a:ln/>
        </p:spPr>
        <p:txBody>
          <a:bodyPr wrap="none" lIns="0" tIns="0" rIns="0" bIns="0" rtlCol="0" anchor="t"/>
          <a:lstStyle/>
          <a:p>
            <a:pPr marL="0" indent="0" algn="l">
              <a:lnSpc>
                <a:spcPct val="123000"/>
              </a:lnSpc>
              <a:buNone/>
            </a:pPr>
            <a:r>
              <a:rPr lang="en-US" sz="1250" dirty="0">
                <a:solidFill>
                  <a:srgbClr val="FFFFFF"/>
                </a:solidFill>
                <a:latin typeface="Inter" pitchFamily="34" charset="0"/>
                <a:ea typeface="Inter" pitchFamily="34" charset="-122"/>
                <a:cs typeface="Inter" pitchFamily="34" charset="-120"/>
              </a:rPr>
              <a:t>Low-rated listings</a:t>
            </a:r>
            <a:endParaRPr lang="en-US" sz="1250" dirty="0"/>
          </a:p>
        </p:txBody>
      </p:sp>
      <p:sp>
        <p:nvSpPr>
          <p:cNvPr id="11" name="Shape 8"/>
          <p:cNvSpPr/>
          <p:nvPr/>
        </p:nvSpPr>
        <p:spPr>
          <a:xfrm>
            <a:off x="6164108" y="5312271"/>
            <a:ext cx="5366112" cy="904577"/>
          </a:xfrm>
          <a:prstGeom prst="roundRect">
            <a:avLst>
              <a:gd name="adj" fmla="val 7460"/>
            </a:avLst>
          </a:prstGeom>
          <a:solidFill>
            <a:srgbClr val="7D4B02"/>
          </a:solidFill>
          <a:ln w="6350">
            <a:solidFill>
              <a:srgbClr val="96641B"/>
            </a:solidFill>
            <a:prstDash val="solid"/>
          </a:ln>
        </p:spPr>
        <p:txBody>
          <a:bodyPr/>
          <a:lstStyle/>
          <a:p>
            <a:endParaRPr lang="en-US"/>
          </a:p>
        </p:txBody>
      </p:sp>
      <p:sp>
        <p:nvSpPr>
          <p:cNvPr id="12" name="Text 9"/>
          <p:cNvSpPr/>
          <p:nvPr/>
        </p:nvSpPr>
        <p:spPr>
          <a:xfrm>
            <a:off x="6331089" y="5479256"/>
            <a:ext cx="5032150" cy="251023"/>
          </a:xfrm>
          <a:prstGeom prst="rect">
            <a:avLst/>
          </a:prstGeom>
          <a:noFill/>
          <a:ln/>
        </p:spPr>
        <p:txBody>
          <a:bodyPr wrap="none" lIns="0" tIns="0" rIns="0" bIns="0" rtlCol="0" anchor="t"/>
          <a:lstStyle/>
          <a:p>
            <a:pPr marL="0" indent="0" algn="l">
              <a:lnSpc>
                <a:spcPct val="104000"/>
              </a:lnSpc>
              <a:buNone/>
            </a:pPr>
            <a:r>
              <a:rPr lang="en-US" sz="1550" b="1" dirty="0">
                <a:solidFill>
                  <a:srgbClr val="FFFFFF"/>
                </a:solidFill>
                <a:latin typeface="Inter Bold" pitchFamily="34" charset="0"/>
                <a:ea typeface="Inter Bold" pitchFamily="34" charset="-122"/>
                <a:cs typeface="Inter Bold" pitchFamily="34" charset="-120"/>
              </a:rPr>
              <a:t>460</a:t>
            </a:r>
            <a:endParaRPr lang="en-US" sz="1550" dirty="0"/>
          </a:p>
        </p:txBody>
      </p:sp>
      <p:sp>
        <p:nvSpPr>
          <p:cNvPr id="13" name="Text 10"/>
          <p:cNvSpPr/>
          <p:nvPr/>
        </p:nvSpPr>
        <p:spPr>
          <a:xfrm>
            <a:off x="6331089" y="5812135"/>
            <a:ext cx="5032150" cy="237728"/>
          </a:xfrm>
          <a:prstGeom prst="rect">
            <a:avLst/>
          </a:prstGeom>
          <a:noFill/>
          <a:ln/>
        </p:spPr>
        <p:txBody>
          <a:bodyPr wrap="none" lIns="0" tIns="0" rIns="0" bIns="0" rtlCol="0" anchor="t"/>
          <a:lstStyle/>
          <a:p>
            <a:pPr marL="0" indent="0" algn="l">
              <a:lnSpc>
                <a:spcPct val="123000"/>
              </a:lnSpc>
              <a:buNone/>
            </a:pPr>
            <a:r>
              <a:rPr lang="en-US" sz="1250" dirty="0">
                <a:solidFill>
                  <a:srgbClr val="FFFFFF"/>
                </a:solidFill>
                <a:latin typeface="Inter" pitchFamily="34" charset="0"/>
                <a:ea typeface="Inter" pitchFamily="34" charset="-122"/>
                <a:cs typeface="Inter" pitchFamily="34" charset="-120"/>
              </a:rPr>
              <a:t>High-rated listings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578247"/>
            <a:ext cx="6623876" cy="3931245"/>
          </a:xfrm>
          <a:prstGeom prst="rect">
            <a:avLst/>
          </a:prstGeom>
        </p:spPr>
      </p:pic>
      <p:sp>
        <p:nvSpPr>
          <p:cNvPr id="3" name="Shape 0"/>
          <p:cNvSpPr/>
          <p:nvPr/>
        </p:nvSpPr>
        <p:spPr>
          <a:xfrm>
            <a:off x="661475" y="4681736"/>
            <a:ext cx="1789167" cy="258465"/>
          </a:xfrm>
          <a:prstGeom prst="roundRect">
            <a:avLst>
              <a:gd name="adj" fmla="val 22115"/>
            </a:avLst>
          </a:prstGeom>
          <a:solidFill>
            <a:srgbClr val="4B2D01"/>
          </a:solidFill>
          <a:ln/>
        </p:spPr>
        <p:txBody>
          <a:bodyPr/>
          <a:lstStyle/>
          <a:p>
            <a:endParaRPr lang="en-US"/>
          </a:p>
        </p:txBody>
      </p:sp>
      <p:sp>
        <p:nvSpPr>
          <p:cNvPr id="4" name="Text 1"/>
          <p:cNvSpPr/>
          <p:nvPr/>
        </p:nvSpPr>
        <p:spPr>
          <a:xfrm>
            <a:off x="763469" y="4732734"/>
            <a:ext cx="2194763" cy="156468"/>
          </a:xfrm>
          <a:prstGeom prst="rect">
            <a:avLst/>
          </a:prstGeom>
          <a:noFill/>
          <a:ln/>
        </p:spPr>
        <p:txBody>
          <a:bodyPr wrap="none" lIns="0" tIns="0" rIns="0" bIns="0" rtlCol="0" anchor="t"/>
          <a:lstStyle/>
          <a:p>
            <a:pPr marL="0" indent="0" algn="l">
              <a:lnSpc>
                <a:spcPct val="96000"/>
              </a:lnSpc>
              <a:buNone/>
            </a:pPr>
            <a:r>
              <a:rPr lang="en-US" sz="1050" dirty="0">
                <a:solidFill>
                  <a:srgbClr val="FFFFFF"/>
                </a:solidFill>
                <a:latin typeface="Inter" pitchFamily="34" charset="0"/>
                <a:ea typeface="Inter" pitchFamily="34" charset="-122"/>
                <a:cs typeface="Inter" pitchFamily="34" charset="-120"/>
              </a:rPr>
              <a:t>RESEARCH QUESTION 3</a:t>
            </a:r>
            <a:endParaRPr lang="en-US" sz="1050" dirty="0"/>
          </a:p>
        </p:txBody>
      </p:sp>
      <p:sp>
        <p:nvSpPr>
          <p:cNvPr id="5" name="Text 2"/>
          <p:cNvSpPr/>
          <p:nvPr/>
        </p:nvSpPr>
        <p:spPr>
          <a:xfrm>
            <a:off x="661475" y="5001419"/>
            <a:ext cx="10868745" cy="531614"/>
          </a:xfrm>
          <a:prstGeom prst="rect">
            <a:avLst/>
          </a:prstGeom>
          <a:noFill/>
          <a:ln/>
        </p:spPr>
        <p:txBody>
          <a:bodyPr wrap="none" lIns="0" tIns="0" rIns="0" bIns="0" rtlCol="0" anchor="t"/>
          <a:lstStyle/>
          <a:p>
            <a:pPr marL="0" indent="0" algn="l">
              <a:lnSpc>
                <a:spcPct val="104000"/>
              </a:lnSpc>
              <a:buNone/>
            </a:pPr>
            <a:r>
              <a:rPr lang="en-US" sz="3300" b="1" dirty="0">
                <a:solidFill>
                  <a:srgbClr val="FFFFFF"/>
                </a:solidFill>
                <a:latin typeface="Inter Bold" pitchFamily="34" charset="0"/>
                <a:ea typeface="Inter Bold" pitchFamily="34" charset="-122"/>
                <a:cs typeface="Inter Bold" pitchFamily="34" charset="-120"/>
              </a:rPr>
              <a:t>Poor Ratings by Property Type</a:t>
            </a:r>
            <a:endParaRPr lang="en-US" sz="3300" dirty="0"/>
          </a:p>
        </p:txBody>
      </p:sp>
      <p:sp>
        <p:nvSpPr>
          <p:cNvPr id="6" name="Text 3"/>
          <p:cNvSpPr/>
          <p:nvPr/>
        </p:nvSpPr>
        <p:spPr>
          <a:xfrm>
            <a:off x="661475" y="5762625"/>
            <a:ext cx="10868745"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FFFFFF"/>
                </a:solidFill>
                <a:latin typeface="Inter" pitchFamily="34" charset="0"/>
                <a:ea typeface="Inter" pitchFamily="34" charset="-122"/>
                <a:cs typeface="Inter" pitchFamily="34" charset="-120"/>
              </a:rPr>
              <a:t>Hotel rooms and hotels recorded the highest share of poor ratings at </a:t>
            </a:r>
            <a:r>
              <a:rPr lang="en-US" sz="1300" b="1" dirty="0">
                <a:solidFill>
                  <a:srgbClr val="FFFFFF"/>
                </a:solidFill>
                <a:latin typeface="Inter Bold" pitchFamily="34" charset="0"/>
                <a:ea typeface="Inter Bold" pitchFamily="34" charset="-122"/>
                <a:cs typeface="Inter Bold" pitchFamily="34" charset="-120"/>
              </a:rPr>
              <a:t>16.67%</a:t>
            </a:r>
            <a:r>
              <a:rPr lang="en-US" sz="1300" dirty="0">
                <a:solidFill>
                  <a:srgbClr val="FFFFFF"/>
                </a:solidFill>
                <a:latin typeface="Inter" pitchFamily="34" charset="0"/>
                <a:ea typeface="Inter" pitchFamily="34" charset="-122"/>
                <a:cs typeface="Inter" pitchFamily="34" charset="-120"/>
              </a:rPr>
              <a:t>, followed by lofts at </a:t>
            </a:r>
            <a:r>
              <a:rPr lang="en-US" sz="1300" b="1" dirty="0">
                <a:solidFill>
                  <a:srgbClr val="FFFFFF"/>
                </a:solidFill>
                <a:latin typeface="Inter Bold" pitchFamily="34" charset="0"/>
                <a:ea typeface="Inter Bold" pitchFamily="34" charset="-122"/>
                <a:cs typeface="Inter Bold" pitchFamily="34" charset="-120"/>
              </a:rPr>
              <a:t>15.38%</a:t>
            </a:r>
            <a:r>
              <a:rPr lang="en-US" sz="1300" dirty="0">
                <a:solidFill>
                  <a:srgbClr val="FFFFFF"/>
                </a:solidFill>
                <a:latin typeface="Inter" pitchFamily="34" charset="0"/>
                <a:ea typeface="Inter" pitchFamily="34" charset="-122"/>
                <a:cs typeface="Inter" pitchFamily="34" charset="-120"/>
              </a:rPr>
              <a:t>. Apartments had the lowest poor rating rate at just </a:t>
            </a:r>
            <a:r>
              <a:rPr lang="en-US" sz="1300" b="1" dirty="0">
                <a:solidFill>
                  <a:srgbClr val="FFFFFF"/>
                </a:solidFill>
                <a:latin typeface="Inter Bold" pitchFamily="34" charset="0"/>
                <a:ea typeface="Inter Bold" pitchFamily="34" charset="-122"/>
                <a:cs typeface="Inter Bold" pitchFamily="34" charset="-120"/>
              </a:rPr>
              <a:t>9.33%</a:t>
            </a:r>
            <a:r>
              <a:rPr lang="en-US" sz="1300" dirty="0">
                <a:solidFill>
                  <a:srgbClr val="FFFFFF"/>
                </a:solidFill>
                <a:latin typeface="Inter" pitchFamily="34" charset="0"/>
                <a:ea typeface="Inter" pitchFamily="34" charset="-122"/>
                <a:cs typeface="Inter" pitchFamily="34" charset="-120"/>
              </a:rPr>
              <a:t> — suggesting guests hold hotel-style listings to a higher standard than residential properties.</a:t>
            </a:r>
            <a:endParaRPr lang="en-US" sz="1300" dirty="0"/>
          </a:p>
        </p:txBody>
      </p:sp>
      <p:pic>
        <p:nvPicPr>
          <p:cNvPr id="7" name="Image 1" descr="preencoded.png">
            <a:extLst>
              <a:ext uri="{FF2B5EF4-FFF2-40B4-BE49-F238E27FC236}">
                <a16:creationId xmlns:a16="http://schemas.microsoft.com/office/drawing/2014/main" id="{241F5C0B-7633-3AF0-E5DE-767FEF1A1773}"/>
              </a:ext>
            </a:extLst>
          </p:cNvPr>
          <p:cNvPicPr>
            <a:picLocks noChangeAspect="1"/>
          </p:cNvPicPr>
          <p:nvPr/>
        </p:nvPicPr>
        <p:blipFill>
          <a:blip r:embed="rId4"/>
          <a:stretch>
            <a:fillRect/>
          </a:stretch>
        </p:blipFill>
        <p:spPr>
          <a:xfrm>
            <a:off x="7550853" y="750292"/>
            <a:ext cx="3931147" cy="39312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22684"/>
            <a:ext cx="1833517" cy="264220"/>
          </a:xfrm>
          <a:prstGeom prst="roundRect">
            <a:avLst>
              <a:gd name="adj" fmla="val 22121"/>
            </a:avLst>
          </a:prstGeom>
          <a:solidFill>
            <a:srgbClr val="4B2D01"/>
          </a:solidFill>
          <a:ln/>
        </p:spPr>
        <p:txBody>
          <a:bodyPr/>
          <a:lstStyle/>
          <a:p>
            <a:endParaRPr lang="en-US"/>
          </a:p>
        </p:txBody>
      </p:sp>
      <p:sp>
        <p:nvSpPr>
          <p:cNvPr id="3" name="Text 1"/>
          <p:cNvSpPr/>
          <p:nvPr/>
        </p:nvSpPr>
        <p:spPr>
          <a:xfrm>
            <a:off x="765751" y="574774"/>
            <a:ext cx="2234549" cy="160040"/>
          </a:xfrm>
          <a:prstGeom prst="rect">
            <a:avLst/>
          </a:prstGeom>
          <a:noFill/>
          <a:ln/>
        </p:spPr>
        <p:txBody>
          <a:bodyPr wrap="none" lIns="0" tIns="0" rIns="0" bIns="0" rtlCol="0" anchor="t"/>
          <a:lstStyle/>
          <a:p>
            <a:pPr marL="0" indent="0" algn="l">
              <a:lnSpc>
                <a:spcPct val="96000"/>
              </a:lnSpc>
              <a:buNone/>
            </a:pPr>
            <a:r>
              <a:rPr lang="en-US" sz="1050" dirty="0">
                <a:solidFill>
                  <a:srgbClr val="FFFFFF"/>
                </a:solidFill>
                <a:latin typeface="Inter" pitchFamily="34" charset="0"/>
                <a:ea typeface="Inter" pitchFamily="34" charset="-122"/>
                <a:cs typeface="Inter" pitchFamily="34" charset="-120"/>
              </a:rPr>
              <a:t>RESEARCH QUESTION 4</a:t>
            </a:r>
            <a:endParaRPr lang="en-US" sz="1050" dirty="0"/>
          </a:p>
        </p:txBody>
      </p:sp>
      <p:sp>
        <p:nvSpPr>
          <p:cNvPr id="4" name="Text 2"/>
          <p:cNvSpPr/>
          <p:nvPr/>
        </p:nvSpPr>
        <p:spPr>
          <a:xfrm>
            <a:off x="661475" y="850900"/>
            <a:ext cx="10868745" cy="543520"/>
          </a:xfrm>
          <a:prstGeom prst="rect">
            <a:avLst/>
          </a:prstGeom>
          <a:noFill/>
          <a:ln/>
        </p:spPr>
        <p:txBody>
          <a:bodyPr wrap="none" lIns="0" tIns="0" rIns="0" bIns="0" rtlCol="0" anchor="t"/>
          <a:lstStyle/>
          <a:p>
            <a:pPr marL="0" indent="0" algn="l">
              <a:lnSpc>
                <a:spcPct val="104000"/>
              </a:lnSpc>
              <a:buNone/>
            </a:pPr>
            <a:r>
              <a:rPr lang="en-US" sz="3400" b="1" dirty="0">
                <a:solidFill>
                  <a:srgbClr val="FFFFFF"/>
                </a:solidFill>
                <a:latin typeface="Inter Bold" pitchFamily="34" charset="0"/>
                <a:ea typeface="Inter Bold" pitchFamily="34" charset="-122"/>
                <a:cs typeface="Inter Bold" pitchFamily="34" charset="-120"/>
              </a:rPr>
              <a:t>Amenities &amp; Airbnb Pricing</a:t>
            </a:r>
            <a:endParaRPr lang="en-US" sz="3400" dirty="0"/>
          </a:p>
        </p:txBody>
      </p:sp>
      <p:pic>
        <p:nvPicPr>
          <p:cNvPr id="5" name="Image 0" descr="preencoded.png"/>
          <p:cNvPicPr>
            <a:picLocks noChangeAspect="1"/>
          </p:cNvPicPr>
          <p:nvPr/>
        </p:nvPicPr>
        <p:blipFill>
          <a:blip r:embed="rId3"/>
          <a:stretch>
            <a:fillRect/>
          </a:stretch>
        </p:blipFill>
        <p:spPr>
          <a:xfrm>
            <a:off x="834409" y="1814612"/>
            <a:ext cx="6570200" cy="4340523"/>
          </a:xfrm>
          <a:prstGeom prst="rect">
            <a:avLst/>
          </a:prstGeom>
        </p:spPr>
      </p:pic>
      <p:sp>
        <p:nvSpPr>
          <p:cNvPr id="6" name="Text 3"/>
          <p:cNvSpPr/>
          <p:nvPr/>
        </p:nvSpPr>
        <p:spPr>
          <a:xfrm>
            <a:off x="8008340" y="2412504"/>
            <a:ext cx="3528130" cy="271859"/>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Inter Bold" pitchFamily="34" charset="0"/>
                <a:ea typeface="Inter Bold" pitchFamily="34" charset="-122"/>
                <a:cs typeface="Inter Bold" pitchFamily="34" charset="-120"/>
              </a:rPr>
              <a:t>What the Data Shows</a:t>
            </a:r>
            <a:endParaRPr lang="en-US" sz="1700" dirty="0"/>
          </a:p>
        </p:txBody>
      </p:sp>
      <p:sp>
        <p:nvSpPr>
          <p:cNvPr id="7" name="Text 4"/>
          <p:cNvSpPr/>
          <p:nvPr/>
        </p:nvSpPr>
        <p:spPr>
          <a:xfrm>
            <a:off x="8008340" y="2844403"/>
            <a:ext cx="3528130" cy="1335980"/>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FFFFFF"/>
                </a:solidFill>
                <a:latin typeface="Inter" pitchFamily="34" charset="0"/>
                <a:ea typeface="Inter" pitchFamily="34" charset="-122"/>
                <a:cs typeface="Inter" pitchFamily="34" charset="-120"/>
              </a:rPr>
              <a:t>Listings mentioning more amenities tend to have higher prices, and this relationship is statistically significant. However, the correlation is weak — amenities alone do not strongly determine Airbnb prices.</a:t>
            </a:r>
            <a:endParaRPr lang="en-US" sz="1350" dirty="0"/>
          </a:p>
        </p:txBody>
      </p:sp>
      <p:sp>
        <p:nvSpPr>
          <p:cNvPr id="8" name="Shape 5"/>
          <p:cNvSpPr/>
          <p:nvPr/>
        </p:nvSpPr>
        <p:spPr>
          <a:xfrm>
            <a:off x="8008340" y="4360466"/>
            <a:ext cx="3528130" cy="1176635"/>
          </a:xfrm>
          <a:prstGeom prst="roundRect">
            <a:avLst>
              <a:gd name="adj" fmla="val 6209"/>
            </a:avLst>
          </a:prstGeom>
          <a:solidFill>
            <a:srgbClr val="7D4B02"/>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8182266" y="4608612"/>
            <a:ext cx="217383" cy="173930"/>
          </a:xfrm>
          <a:prstGeom prst="rect">
            <a:avLst/>
          </a:prstGeom>
        </p:spPr>
      </p:pic>
      <p:sp>
        <p:nvSpPr>
          <p:cNvPr id="10" name="Text 6"/>
          <p:cNvSpPr/>
          <p:nvPr/>
        </p:nvSpPr>
        <p:spPr>
          <a:xfrm>
            <a:off x="8573575" y="4547989"/>
            <a:ext cx="2788969" cy="801588"/>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FFFFFF"/>
                </a:solidFill>
                <a:latin typeface="Inter" pitchFamily="34" charset="0"/>
                <a:ea typeface="Inter" pitchFamily="34" charset="-122"/>
                <a:cs typeface="Inter" pitchFamily="34" charset="-120"/>
              </a:rPr>
              <a:t>Location and property type are likely stronger price drivers than amenity count.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22684"/>
            <a:ext cx="1826175" cy="264220"/>
          </a:xfrm>
          <a:prstGeom prst="roundRect">
            <a:avLst>
              <a:gd name="adj" fmla="val 22121"/>
            </a:avLst>
          </a:prstGeom>
          <a:solidFill>
            <a:srgbClr val="4B2D01"/>
          </a:solidFill>
          <a:ln/>
        </p:spPr>
        <p:txBody>
          <a:bodyPr/>
          <a:lstStyle/>
          <a:p>
            <a:endParaRPr lang="en-US"/>
          </a:p>
        </p:txBody>
      </p:sp>
      <p:sp>
        <p:nvSpPr>
          <p:cNvPr id="3" name="Text 1"/>
          <p:cNvSpPr/>
          <p:nvPr/>
        </p:nvSpPr>
        <p:spPr>
          <a:xfrm>
            <a:off x="765751" y="574774"/>
            <a:ext cx="2227207" cy="160040"/>
          </a:xfrm>
          <a:prstGeom prst="rect">
            <a:avLst/>
          </a:prstGeom>
          <a:noFill/>
          <a:ln/>
        </p:spPr>
        <p:txBody>
          <a:bodyPr wrap="none" lIns="0" tIns="0" rIns="0" bIns="0" rtlCol="0" anchor="t"/>
          <a:lstStyle/>
          <a:p>
            <a:pPr marL="0" indent="0" algn="l">
              <a:lnSpc>
                <a:spcPct val="96000"/>
              </a:lnSpc>
              <a:buNone/>
            </a:pPr>
            <a:r>
              <a:rPr lang="en-US" sz="1050" dirty="0">
                <a:solidFill>
                  <a:srgbClr val="FFFFFF"/>
                </a:solidFill>
                <a:latin typeface="Inter" pitchFamily="34" charset="0"/>
                <a:ea typeface="Inter" pitchFamily="34" charset="-122"/>
                <a:cs typeface="Inter" pitchFamily="34" charset="-120"/>
              </a:rPr>
              <a:t>RESEARCH QUESTION 5</a:t>
            </a:r>
            <a:endParaRPr lang="en-US" sz="1050" dirty="0"/>
          </a:p>
        </p:txBody>
      </p:sp>
      <p:sp>
        <p:nvSpPr>
          <p:cNvPr id="4" name="Text 2"/>
          <p:cNvSpPr/>
          <p:nvPr/>
        </p:nvSpPr>
        <p:spPr>
          <a:xfrm>
            <a:off x="661475" y="850900"/>
            <a:ext cx="10868745" cy="543520"/>
          </a:xfrm>
          <a:prstGeom prst="rect">
            <a:avLst/>
          </a:prstGeom>
          <a:noFill/>
          <a:ln/>
        </p:spPr>
        <p:txBody>
          <a:bodyPr wrap="none" lIns="0" tIns="0" rIns="0" bIns="0" rtlCol="0" anchor="t"/>
          <a:lstStyle/>
          <a:p>
            <a:pPr marL="0" indent="0" algn="l">
              <a:lnSpc>
                <a:spcPct val="104000"/>
              </a:lnSpc>
              <a:buNone/>
            </a:pPr>
            <a:r>
              <a:rPr lang="en-US" sz="3400" b="1" dirty="0">
                <a:solidFill>
                  <a:srgbClr val="FFFFFF"/>
                </a:solidFill>
                <a:latin typeface="Inter Bold" pitchFamily="34" charset="0"/>
                <a:ea typeface="Inter Bold" pitchFamily="34" charset="-122"/>
                <a:cs typeface="Inter Bold" pitchFamily="34" charset="-120"/>
              </a:rPr>
              <a:t>Amenities &amp; Guest Ratings</a:t>
            </a:r>
            <a:endParaRPr lang="en-US" sz="3400" dirty="0"/>
          </a:p>
        </p:txBody>
      </p:sp>
      <p:sp>
        <p:nvSpPr>
          <p:cNvPr id="5" name="Text 3"/>
          <p:cNvSpPr/>
          <p:nvPr/>
        </p:nvSpPr>
        <p:spPr>
          <a:xfrm>
            <a:off x="661475" y="2564011"/>
            <a:ext cx="3528130" cy="271859"/>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Inter Bold" pitchFamily="34" charset="0"/>
                <a:ea typeface="Inter Bold" pitchFamily="34" charset="-122"/>
                <a:cs typeface="Inter Bold" pitchFamily="34" charset="-120"/>
              </a:rPr>
              <a:t>Key Statistics</a:t>
            </a:r>
            <a:endParaRPr lang="en-US" sz="1700" dirty="0"/>
          </a:p>
        </p:txBody>
      </p:sp>
      <p:sp>
        <p:nvSpPr>
          <p:cNvPr id="6" name="Text 4"/>
          <p:cNvSpPr/>
          <p:nvPr/>
        </p:nvSpPr>
        <p:spPr>
          <a:xfrm>
            <a:off x="661475" y="2995910"/>
            <a:ext cx="3528130" cy="2425700"/>
          </a:xfrm>
          <a:prstGeom prst="rect">
            <a:avLst/>
          </a:prstGeom>
          <a:noFill/>
          <a:ln/>
        </p:spPr>
        <p:txBody>
          <a:bodyPr wrap="square" lIns="0" tIns="0" rIns="0" bIns="0" rtlCol="0" anchor="t"/>
          <a:lstStyle/>
          <a:p>
            <a:pPr marL="0" indent="0" algn="l">
              <a:lnSpc>
                <a:spcPct val="128000"/>
              </a:lnSpc>
              <a:spcAft>
                <a:spcPts val="1100"/>
              </a:spcAft>
              <a:buNone/>
            </a:pPr>
            <a:r>
              <a:rPr lang="en-US" sz="1350" b="1" dirty="0">
                <a:solidFill>
                  <a:srgbClr val="FFFFFF"/>
                </a:solidFill>
                <a:latin typeface="Inter Bold" pitchFamily="34" charset="0"/>
                <a:ea typeface="Inter Bold" pitchFamily="34" charset="-122"/>
                <a:cs typeface="Inter Bold" pitchFamily="34" charset="-120"/>
              </a:rPr>
              <a:t>Spearman Correlation:</a:t>
            </a:r>
            <a:r>
              <a:rPr lang="en-US" sz="1350" dirty="0">
                <a:solidFill>
                  <a:srgbClr val="FFFFFF"/>
                </a:solidFill>
                <a:latin typeface="Inter" pitchFamily="34" charset="0"/>
                <a:ea typeface="Inter" pitchFamily="34" charset="-122"/>
                <a:cs typeface="Inter" pitchFamily="34" charset="-120"/>
              </a:rPr>
              <a:t> −0.115</a:t>
            </a:r>
            <a:endParaRPr lang="en-US" sz="1350" dirty="0"/>
          </a:p>
          <a:p>
            <a:pPr marL="0" indent="0" algn="l">
              <a:lnSpc>
                <a:spcPct val="128000"/>
              </a:lnSpc>
              <a:spcAft>
                <a:spcPts val="1100"/>
              </a:spcAft>
              <a:buNone/>
            </a:pPr>
            <a:r>
              <a:rPr lang="en-US" sz="1350" b="1" dirty="0">
                <a:solidFill>
                  <a:srgbClr val="FFFFFF"/>
                </a:solidFill>
                <a:latin typeface="Inter Bold" pitchFamily="34" charset="0"/>
                <a:ea typeface="Inter Bold" pitchFamily="34" charset="-122"/>
                <a:cs typeface="Inter Bold" pitchFamily="34" charset="-120"/>
              </a:rPr>
              <a:t>P-Value:</a:t>
            </a:r>
            <a:r>
              <a:rPr lang="en-US" sz="1350" dirty="0">
                <a:solidFill>
                  <a:srgbClr val="FFFFFF"/>
                </a:solidFill>
                <a:latin typeface="Inter" pitchFamily="34" charset="0"/>
                <a:ea typeface="Inter" pitchFamily="34" charset="-122"/>
                <a:cs typeface="Inter" pitchFamily="34" charset="-120"/>
              </a:rPr>
              <a:t> 0.0045</a:t>
            </a:r>
            <a:endParaRPr lang="en-US" sz="1350" dirty="0"/>
          </a:p>
          <a:p>
            <a:pPr marL="0" indent="0" algn="l">
              <a:lnSpc>
                <a:spcPct val="128000"/>
              </a:lnSpc>
              <a:buNone/>
            </a:pPr>
            <a:r>
              <a:rPr lang="en-US" sz="1350" dirty="0">
                <a:solidFill>
                  <a:srgbClr val="FFFFFF"/>
                </a:solidFill>
                <a:latin typeface="Inter" pitchFamily="34" charset="0"/>
                <a:ea typeface="Inter" pitchFamily="34" charset="-122"/>
                <a:cs typeface="Inter" pitchFamily="34" charset="-120"/>
              </a:rPr>
              <a:t>There is a </a:t>
            </a:r>
            <a:r>
              <a:rPr lang="en-US" sz="1350" b="1" dirty="0">
                <a:solidFill>
                  <a:srgbClr val="FFFFFF"/>
                </a:solidFill>
                <a:latin typeface="Inter Bold" pitchFamily="34" charset="0"/>
                <a:ea typeface="Inter Bold" pitchFamily="34" charset="-122"/>
                <a:cs typeface="Inter Bold" pitchFamily="34" charset="-120"/>
              </a:rPr>
              <a:t>statistically significant</a:t>
            </a:r>
            <a:r>
              <a:rPr lang="en-US" sz="1350" dirty="0">
                <a:solidFill>
                  <a:srgbClr val="FFFFFF"/>
                </a:solidFill>
                <a:latin typeface="Inter" pitchFamily="34" charset="0"/>
                <a:ea typeface="Inter" pitchFamily="34" charset="-122"/>
                <a:cs typeface="Inter" pitchFamily="34" charset="-120"/>
              </a:rPr>
              <a:t> relationship between the number of amenities mentioned and Airbnb ratings — but it is negative and weak. More amenities listed does not translate to better guest satisfaction.</a:t>
            </a:r>
            <a:endParaRPr lang="en-US" sz="1350" dirty="0"/>
          </a:p>
        </p:txBody>
      </p:sp>
      <p:pic>
        <p:nvPicPr>
          <p:cNvPr id="7" name="Image 0" descr="preencoded.png"/>
          <p:cNvPicPr>
            <a:picLocks noChangeAspect="1"/>
          </p:cNvPicPr>
          <p:nvPr/>
        </p:nvPicPr>
        <p:blipFill>
          <a:blip r:embed="rId3"/>
          <a:stretch>
            <a:fillRect/>
          </a:stretch>
        </p:blipFill>
        <p:spPr>
          <a:xfrm>
            <a:off x="4793336" y="1814612"/>
            <a:ext cx="6570200" cy="43405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661475" y="4514949"/>
            <a:ext cx="1957934" cy="282674"/>
          </a:xfrm>
          <a:prstGeom prst="roundRect">
            <a:avLst>
              <a:gd name="adj" fmla="val 22117"/>
            </a:avLst>
          </a:prstGeom>
          <a:solidFill>
            <a:srgbClr val="4B2D01"/>
          </a:solidFill>
          <a:ln/>
        </p:spPr>
        <p:txBody>
          <a:bodyPr/>
          <a:lstStyle/>
          <a:p>
            <a:endParaRPr lang="en-US"/>
          </a:p>
        </p:txBody>
      </p:sp>
      <p:sp>
        <p:nvSpPr>
          <p:cNvPr id="4" name="Text 1"/>
          <p:cNvSpPr/>
          <p:nvPr/>
        </p:nvSpPr>
        <p:spPr>
          <a:xfrm>
            <a:off x="773093" y="4570710"/>
            <a:ext cx="2344282" cy="171152"/>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RESEARCH QUESTION 6</a:t>
            </a:r>
            <a:endParaRPr lang="en-US" sz="1150" dirty="0"/>
          </a:p>
        </p:txBody>
      </p:sp>
      <p:sp>
        <p:nvSpPr>
          <p:cNvPr id="5" name="Text 2"/>
          <p:cNvSpPr/>
          <p:nvPr/>
        </p:nvSpPr>
        <p:spPr>
          <a:xfrm>
            <a:off x="661475" y="4870847"/>
            <a:ext cx="10868745" cy="581422"/>
          </a:xfrm>
          <a:prstGeom prst="rect">
            <a:avLst/>
          </a:prstGeom>
          <a:noFill/>
          <a:ln/>
        </p:spPr>
        <p:txBody>
          <a:bodyPr wrap="none" lIns="0" tIns="0" rIns="0" bIns="0" rtlCol="0" anchor="t"/>
          <a:lstStyle/>
          <a:p>
            <a:pPr marL="0" indent="0" algn="l">
              <a:lnSpc>
                <a:spcPct val="104000"/>
              </a:lnSpc>
              <a:buNone/>
            </a:pPr>
            <a:r>
              <a:rPr lang="en-US" sz="3650" b="1" dirty="0">
                <a:solidFill>
                  <a:srgbClr val="FFFFFF"/>
                </a:solidFill>
                <a:latin typeface="Inter Bold" pitchFamily="34" charset="0"/>
                <a:ea typeface="Inter Bold" pitchFamily="34" charset="-122"/>
                <a:cs typeface="Inter Bold" pitchFamily="34" charset="-120"/>
              </a:rPr>
              <a:t>Ratings Vary Significantly by Location</a:t>
            </a:r>
            <a:endParaRPr lang="en-US" sz="3650" dirty="0"/>
          </a:p>
        </p:txBody>
      </p:sp>
      <p:sp>
        <p:nvSpPr>
          <p:cNvPr id="6" name="Text 3"/>
          <p:cNvSpPr/>
          <p:nvPr/>
        </p:nvSpPr>
        <p:spPr>
          <a:xfrm>
            <a:off x="661475" y="5727005"/>
            <a:ext cx="10868745"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FFFFFF"/>
                </a:solidFill>
                <a:latin typeface="Inter" pitchFamily="34" charset="0"/>
                <a:ea typeface="Inter" pitchFamily="34" charset="-122"/>
                <a:cs typeface="Inter" pitchFamily="34" charset="-120"/>
              </a:rPr>
              <a:t>The Kruskal-Wallis test confirms a </a:t>
            </a:r>
            <a:r>
              <a:rPr lang="en-US" sz="1450" b="1" dirty="0">
                <a:solidFill>
                  <a:srgbClr val="FFFFFF"/>
                </a:solidFill>
                <a:latin typeface="Inter Bold" pitchFamily="34" charset="0"/>
                <a:ea typeface="Inter Bold" pitchFamily="34" charset="-122"/>
                <a:cs typeface="Inter Bold" pitchFamily="34" charset="-120"/>
              </a:rPr>
              <a:t>statistically significant difference</a:t>
            </a:r>
            <a:r>
              <a:rPr lang="en-US" sz="1450" dirty="0">
                <a:solidFill>
                  <a:srgbClr val="FFFFFF"/>
                </a:solidFill>
                <a:latin typeface="Inter" pitchFamily="34" charset="0"/>
                <a:ea typeface="Inter" pitchFamily="34" charset="-122"/>
                <a:cs typeface="Inter" pitchFamily="34" charset="-120"/>
              </a:rPr>
              <a:t> in Airbnb ratings across locations </a:t>
            </a:r>
            <a:r>
              <a:rPr lang="en-US" sz="1450" b="1" dirty="0">
                <a:solidFill>
                  <a:srgbClr val="FFFFFF"/>
                </a:solidFill>
                <a:latin typeface="Inter Bold" pitchFamily="34" charset="0"/>
                <a:ea typeface="Inter Bold" pitchFamily="34" charset="-122"/>
                <a:cs typeface="Inter Bold" pitchFamily="34" charset="-120"/>
              </a:rPr>
              <a:t>(H = 65.785, p = 0.0)</a:t>
            </a:r>
            <a:r>
              <a:rPr lang="en-US" sz="1450" dirty="0">
                <a:solidFill>
                  <a:srgbClr val="FFFFFF"/>
                </a:solidFill>
                <a:latin typeface="Inter" pitchFamily="34" charset="0"/>
                <a:ea typeface="Inter" pitchFamily="34" charset="-122"/>
                <a:cs typeface="Inter" pitchFamily="34" charset="-120"/>
              </a:rPr>
              <a:t>. Where a listing is located meaningfully influences the guest experience and resulting ratings.</a:t>
            </a:r>
            <a:endParaRPr lang="en-US" sz="1450" dirty="0"/>
          </a:p>
        </p:txBody>
      </p:sp>
      <p:pic>
        <p:nvPicPr>
          <p:cNvPr id="7" name="Image 1" descr="preencoded.png">
            <a:extLst>
              <a:ext uri="{FF2B5EF4-FFF2-40B4-BE49-F238E27FC236}">
                <a16:creationId xmlns:a16="http://schemas.microsoft.com/office/drawing/2014/main" id="{EF08BF3F-78A0-199A-D0A8-45C3137BF58D}"/>
              </a:ext>
            </a:extLst>
          </p:cNvPr>
          <p:cNvPicPr>
            <a:picLocks noChangeAspect="1"/>
          </p:cNvPicPr>
          <p:nvPr/>
        </p:nvPicPr>
        <p:blipFill>
          <a:blip r:embed="rId3"/>
          <a:stretch>
            <a:fillRect/>
          </a:stretch>
        </p:blipFill>
        <p:spPr>
          <a:xfrm>
            <a:off x="8474855" y="716260"/>
            <a:ext cx="3461954" cy="3462040"/>
          </a:xfrm>
          <a:prstGeom prst="rect">
            <a:avLst/>
          </a:prstGeom>
        </p:spPr>
      </p:pic>
      <p:pic>
        <p:nvPicPr>
          <p:cNvPr id="8" name="Picture 7">
            <a:extLst>
              <a:ext uri="{FF2B5EF4-FFF2-40B4-BE49-F238E27FC236}">
                <a16:creationId xmlns:a16="http://schemas.microsoft.com/office/drawing/2014/main" id="{57B74C9C-4DC1-7EAB-5A33-E8CBCB60DE52}"/>
              </a:ext>
            </a:extLst>
          </p:cNvPr>
          <p:cNvPicPr>
            <a:picLocks noChangeAspect="1"/>
          </p:cNvPicPr>
          <p:nvPr/>
        </p:nvPicPr>
        <p:blipFill>
          <a:blip r:embed="rId4"/>
          <a:stretch>
            <a:fillRect/>
          </a:stretch>
        </p:blipFill>
        <p:spPr>
          <a:xfrm>
            <a:off x="685800" y="762000"/>
            <a:ext cx="7645400" cy="36367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43123"/>
            <a:ext cx="1979960" cy="287139"/>
          </a:xfrm>
          <a:prstGeom prst="roundRect">
            <a:avLst>
              <a:gd name="adj" fmla="val 22118"/>
            </a:avLst>
          </a:prstGeom>
          <a:solidFill>
            <a:srgbClr val="4B2D01"/>
          </a:solidFill>
          <a:ln/>
        </p:spPr>
        <p:txBody>
          <a:bodyPr/>
          <a:lstStyle/>
          <a:p>
            <a:endParaRPr lang="en-US"/>
          </a:p>
        </p:txBody>
      </p:sp>
      <p:sp>
        <p:nvSpPr>
          <p:cNvPr id="3" name="Text 1"/>
          <p:cNvSpPr/>
          <p:nvPr/>
        </p:nvSpPr>
        <p:spPr>
          <a:xfrm>
            <a:off x="774879" y="599777"/>
            <a:ext cx="2362736" cy="173831"/>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RESEARCH QUESTION 7</a:t>
            </a:r>
            <a:endParaRPr lang="en-US" sz="1150" dirty="0"/>
          </a:p>
        </p:txBody>
      </p:sp>
      <p:sp>
        <p:nvSpPr>
          <p:cNvPr id="4" name="Text 2"/>
          <p:cNvSpPr/>
          <p:nvPr/>
        </p:nvSpPr>
        <p:spPr>
          <a:xfrm>
            <a:off x="661475" y="905867"/>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Prices Vary Significantly by Location</a:t>
            </a:r>
            <a:endParaRPr lang="en-US" sz="3700" dirty="0"/>
          </a:p>
        </p:txBody>
      </p:sp>
      <p:sp>
        <p:nvSpPr>
          <p:cNvPr id="6" name="Text 3"/>
          <p:cNvSpPr/>
          <p:nvPr/>
        </p:nvSpPr>
        <p:spPr>
          <a:xfrm>
            <a:off x="8032251" y="2586236"/>
            <a:ext cx="3504219"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Statistical Evidence</a:t>
            </a:r>
            <a:endParaRPr lang="en-US" sz="1850" dirty="0"/>
          </a:p>
        </p:txBody>
      </p:sp>
      <p:sp>
        <p:nvSpPr>
          <p:cNvPr id="7" name="Text 4"/>
          <p:cNvSpPr/>
          <p:nvPr/>
        </p:nvSpPr>
        <p:spPr>
          <a:xfrm>
            <a:off x="8032251" y="3070523"/>
            <a:ext cx="3504219" cy="2457053"/>
          </a:xfrm>
          <a:prstGeom prst="rect">
            <a:avLst/>
          </a:prstGeom>
          <a:noFill/>
          <a:ln/>
        </p:spPr>
        <p:txBody>
          <a:bodyPr wrap="square" lIns="0" tIns="0" rIns="0" bIns="0" rtlCol="0" anchor="t"/>
          <a:lstStyle/>
          <a:p>
            <a:pPr marL="0" indent="0" algn="l">
              <a:lnSpc>
                <a:spcPct val="133000"/>
              </a:lnSpc>
              <a:spcAft>
                <a:spcPts val="1300"/>
              </a:spcAft>
              <a:buNone/>
            </a:pPr>
            <a:r>
              <a:rPr lang="en-US" sz="1450" b="1" dirty="0">
                <a:solidFill>
                  <a:srgbClr val="FFFFFF"/>
                </a:solidFill>
                <a:latin typeface="Inter Bold" pitchFamily="34" charset="0"/>
                <a:ea typeface="Inter Bold" pitchFamily="34" charset="-122"/>
                <a:cs typeface="Inter Bold" pitchFamily="34" charset="-120"/>
              </a:rPr>
              <a:t>Kruskal-Wallis H:</a:t>
            </a:r>
            <a:r>
              <a:rPr lang="en-US" sz="1450" dirty="0">
                <a:solidFill>
                  <a:srgbClr val="FFFFFF"/>
                </a:solidFill>
                <a:latin typeface="Inter" pitchFamily="34" charset="0"/>
                <a:ea typeface="Inter" pitchFamily="34" charset="-122"/>
                <a:cs typeface="Inter" pitchFamily="34" charset="-120"/>
              </a:rPr>
              <a:t> 196.358</a:t>
            </a:r>
            <a:endParaRPr lang="en-US" sz="1450" dirty="0"/>
          </a:p>
          <a:p>
            <a:pPr>
              <a:lnSpc>
                <a:spcPct val="133000"/>
              </a:lnSpc>
              <a:spcAft>
                <a:spcPts val="1300"/>
              </a:spcAft>
            </a:pPr>
            <a:r>
              <a:rPr lang="en-US" sz="1450" b="1" dirty="0">
                <a:solidFill>
                  <a:srgbClr val="FFFFFF"/>
                </a:solidFill>
                <a:latin typeface="Inter Bold" pitchFamily="34" charset="0"/>
                <a:ea typeface="Inter Bold" pitchFamily="34" charset="-122"/>
                <a:cs typeface="Inter Bold" pitchFamily="34" charset="-120"/>
              </a:rPr>
              <a:t>P-Value:</a:t>
            </a:r>
            <a:r>
              <a:rPr lang="en-US" sz="1450" dirty="0">
                <a:solidFill>
                  <a:srgbClr val="FFFFFF"/>
                </a:solidFill>
                <a:latin typeface="Inter" pitchFamily="34" charset="0"/>
                <a:ea typeface="Inter" pitchFamily="34" charset="-122"/>
                <a:cs typeface="Inter" pitchFamily="34" charset="-120"/>
              </a:rPr>
              <a:t> </a:t>
            </a:r>
            <a:r>
              <a:rPr lang="en-PH" dirty="0">
                <a:solidFill>
                  <a:schemeClr val="bg1"/>
                </a:solidFill>
              </a:rPr>
              <a:t>5.903294656518362e-31</a:t>
            </a:r>
          </a:p>
          <a:p>
            <a:pPr marL="0" indent="0" algn="l">
              <a:lnSpc>
                <a:spcPct val="133000"/>
              </a:lnSpc>
              <a:spcAft>
                <a:spcPts val="1300"/>
              </a:spcAft>
              <a:buNone/>
            </a:pPr>
            <a:endParaRPr lang="en-US" sz="1450" dirty="0"/>
          </a:p>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The extremely low p-value confirms that Airbnb prices differ </a:t>
            </a:r>
            <a:r>
              <a:rPr lang="en-US" sz="1450" b="1" dirty="0">
                <a:solidFill>
                  <a:srgbClr val="FFFFFF"/>
                </a:solidFill>
                <a:latin typeface="Inter Bold" pitchFamily="34" charset="0"/>
                <a:ea typeface="Inter Bold" pitchFamily="34" charset="-122"/>
                <a:cs typeface="Inter Bold" pitchFamily="34" charset="-120"/>
              </a:rPr>
              <a:t>significantly</a:t>
            </a:r>
            <a:r>
              <a:rPr lang="en-US" sz="1450" dirty="0">
                <a:solidFill>
                  <a:srgbClr val="FFFFFF"/>
                </a:solidFill>
                <a:latin typeface="Inter" pitchFamily="34" charset="0"/>
                <a:ea typeface="Inter" pitchFamily="34" charset="-122"/>
                <a:cs typeface="Inter" pitchFamily="34" charset="-120"/>
              </a:rPr>
              <a:t> across locations. Geography is one of the strongest determinants of listing price in this dataset.</a:t>
            </a:r>
            <a:endParaRPr lang="en-US" sz="1450" dirty="0"/>
          </a:p>
        </p:txBody>
      </p:sp>
      <p:pic>
        <p:nvPicPr>
          <p:cNvPr id="8" name="Picture 7">
            <a:extLst>
              <a:ext uri="{FF2B5EF4-FFF2-40B4-BE49-F238E27FC236}">
                <a16:creationId xmlns:a16="http://schemas.microsoft.com/office/drawing/2014/main" id="{62464731-F749-2F9E-587D-9EA473D89030}"/>
              </a:ext>
            </a:extLst>
          </p:cNvPr>
          <p:cNvPicPr>
            <a:picLocks noChangeAspect="1"/>
          </p:cNvPicPr>
          <p:nvPr/>
        </p:nvPicPr>
        <p:blipFill>
          <a:blip r:embed="rId3"/>
          <a:stretch>
            <a:fillRect/>
          </a:stretch>
        </p:blipFill>
        <p:spPr>
          <a:xfrm>
            <a:off x="641850" y="1628775"/>
            <a:ext cx="7035800" cy="41856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49374"/>
            <a:ext cx="1987897" cy="287139"/>
          </a:xfrm>
          <a:prstGeom prst="roundRect">
            <a:avLst>
              <a:gd name="adj" fmla="val 22118"/>
            </a:avLst>
          </a:prstGeom>
          <a:solidFill>
            <a:srgbClr val="4B2D01"/>
          </a:solidFill>
          <a:ln/>
        </p:spPr>
        <p:txBody>
          <a:bodyPr/>
          <a:lstStyle/>
          <a:p>
            <a:endParaRPr lang="en-US"/>
          </a:p>
        </p:txBody>
      </p:sp>
      <p:sp>
        <p:nvSpPr>
          <p:cNvPr id="3" name="Text 1"/>
          <p:cNvSpPr/>
          <p:nvPr/>
        </p:nvSpPr>
        <p:spPr>
          <a:xfrm>
            <a:off x="774879" y="606028"/>
            <a:ext cx="2370674" cy="173831"/>
          </a:xfrm>
          <a:prstGeom prst="rect">
            <a:avLst/>
          </a:prstGeom>
          <a:noFill/>
          <a:ln/>
        </p:spPr>
        <p:txBody>
          <a:bodyPr wrap="none" lIns="0" tIns="0" rIns="0" bIns="0" rtlCol="0" anchor="t"/>
          <a:lstStyle/>
          <a:p>
            <a:pPr marL="0" indent="0" algn="l">
              <a:lnSpc>
                <a:spcPct val="96000"/>
              </a:lnSpc>
              <a:buNone/>
            </a:pPr>
            <a:r>
              <a:rPr lang="en-US" sz="1150" dirty="0">
                <a:solidFill>
                  <a:srgbClr val="FFFFFF"/>
                </a:solidFill>
                <a:latin typeface="Inter" pitchFamily="34" charset="0"/>
                <a:ea typeface="Inter" pitchFamily="34" charset="-122"/>
                <a:cs typeface="Inter" pitchFamily="34" charset="-120"/>
              </a:rPr>
              <a:t>RESEARCH QUESTION 8</a:t>
            </a:r>
            <a:endParaRPr lang="en-US" sz="1150" dirty="0"/>
          </a:p>
        </p:txBody>
      </p:sp>
      <p:sp>
        <p:nvSpPr>
          <p:cNvPr id="4" name="Text 2"/>
          <p:cNvSpPr/>
          <p:nvPr/>
        </p:nvSpPr>
        <p:spPr>
          <a:xfrm>
            <a:off x="661475" y="912118"/>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Review Volume &amp; Guest Ratings</a:t>
            </a:r>
            <a:endParaRPr lang="en-US" sz="3700" dirty="0"/>
          </a:p>
        </p:txBody>
      </p:sp>
      <p:sp>
        <p:nvSpPr>
          <p:cNvPr id="5" name="Text 3"/>
          <p:cNvSpPr/>
          <p:nvPr/>
        </p:nvSpPr>
        <p:spPr>
          <a:xfrm>
            <a:off x="661475" y="2435027"/>
            <a:ext cx="3504219"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Key Statistics</a:t>
            </a:r>
            <a:endParaRPr lang="en-US" sz="1850" dirty="0"/>
          </a:p>
        </p:txBody>
      </p:sp>
      <p:sp>
        <p:nvSpPr>
          <p:cNvPr id="6" name="Text 4"/>
          <p:cNvSpPr/>
          <p:nvPr/>
        </p:nvSpPr>
        <p:spPr>
          <a:xfrm>
            <a:off x="661475" y="2919313"/>
            <a:ext cx="3504219" cy="2759472"/>
          </a:xfrm>
          <a:prstGeom prst="rect">
            <a:avLst/>
          </a:prstGeom>
          <a:noFill/>
          <a:ln/>
        </p:spPr>
        <p:txBody>
          <a:bodyPr wrap="square" lIns="0" tIns="0" rIns="0" bIns="0" rtlCol="0" anchor="t"/>
          <a:lstStyle/>
          <a:p>
            <a:pPr marL="0" indent="0" algn="l">
              <a:lnSpc>
                <a:spcPct val="133000"/>
              </a:lnSpc>
              <a:spcAft>
                <a:spcPts val="1300"/>
              </a:spcAft>
              <a:buNone/>
            </a:pPr>
            <a:r>
              <a:rPr lang="en-US" sz="1450" b="1" dirty="0">
                <a:solidFill>
                  <a:srgbClr val="FFFFFF"/>
                </a:solidFill>
                <a:latin typeface="Inter Bold" pitchFamily="34" charset="0"/>
                <a:ea typeface="Inter Bold" pitchFamily="34" charset="-122"/>
                <a:cs typeface="Inter Bold" pitchFamily="34" charset="-120"/>
              </a:rPr>
              <a:t>Spearman Correlation:</a:t>
            </a:r>
            <a:r>
              <a:rPr lang="en-US" sz="1450" dirty="0">
                <a:solidFill>
                  <a:srgbClr val="FFFFFF"/>
                </a:solidFill>
                <a:latin typeface="Inter" pitchFamily="34" charset="0"/>
                <a:ea typeface="Inter" pitchFamily="34" charset="-122"/>
                <a:cs typeface="Inter" pitchFamily="34" charset="-120"/>
              </a:rPr>
              <a:t> −0.184</a:t>
            </a:r>
            <a:endParaRPr lang="en-US" sz="1450" dirty="0"/>
          </a:p>
          <a:p>
            <a:pPr marL="0" indent="0" algn="l">
              <a:lnSpc>
                <a:spcPct val="133000"/>
              </a:lnSpc>
              <a:spcAft>
                <a:spcPts val="1300"/>
              </a:spcAft>
              <a:buNone/>
            </a:pPr>
            <a:r>
              <a:rPr lang="en-US" sz="1450" b="1" dirty="0">
                <a:solidFill>
                  <a:srgbClr val="FFFFFF"/>
                </a:solidFill>
                <a:latin typeface="Inter Bold" pitchFamily="34" charset="0"/>
                <a:ea typeface="Inter Bold" pitchFamily="34" charset="-122"/>
                <a:cs typeface="Inter Bold" pitchFamily="34" charset="-120"/>
              </a:rPr>
              <a:t>P-Value:</a:t>
            </a:r>
            <a:r>
              <a:rPr lang="en-US" sz="1450" dirty="0">
                <a:solidFill>
                  <a:srgbClr val="FFFFFF"/>
                </a:solidFill>
                <a:latin typeface="Inter" pitchFamily="34" charset="0"/>
                <a:ea typeface="Inter" pitchFamily="34" charset="-122"/>
                <a:cs typeface="Inter" pitchFamily="34" charset="-120"/>
              </a:rPr>
              <a:t> 5.38 × 10⁻⁶</a:t>
            </a:r>
            <a:endParaRPr lang="en-US" sz="1450" dirty="0"/>
          </a:p>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There is a </a:t>
            </a:r>
            <a:r>
              <a:rPr lang="en-US" sz="1450" b="1" dirty="0">
                <a:solidFill>
                  <a:srgbClr val="FFFFFF"/>
                </a:solidFill>
                <a:latin typeface="Inter Bold" pitchFamily="34" charset="0"/>
                <a:ea typeface="Inter Bold" pitchFamily="34" charset="-122"/>
                <a:cs typeface="Inter Bold" pitchFamily="34" charset="-120"/>
              </a:rPr>
              <a:t>statistically significant</a:t>
            </a:r>
            <a:r>
              <a:rPr lang="en-US" sz="1450" dirty="0">
                <a:solidFill>
                  <a:srgbClr val="FFFFFF"/>
                </a:solidFill>
                <a:latin typeface="Inter" pitchFamily="34" charset="0"/>
                <a:ea typeface="Inter" pitchFamily="34" charset="-122"/>
                <a:cs typeface="Inter" pitchFamily="34" charset="-120"/>
              </a:rPr>
              <a:t> but weak negative relationship between the number of reviews and Airbnb ratings. Listings with more reviews tend to have slightly lower ratings — though the effect is modest.</a:t>
            </a:r>
            <a:endParaRPr lang="en-US" sz="1450" dirty="0"/>
          </a:p>
        </p:txBody>
      </p:sp>
      <p:pic>
        <p:nvPicPr>
          <p:cNvPr id="7" name="Image 0" descr="preencoded.png"/>
          <p:cNvPicPr>
            <a:picLocks noChangeAspect="1"/>
          </p:cNvPicPr>
          <p:nvPr/>
        </p:nvPicPr>
        <p:blipFill>
          <a:blip r:embed="rId3"/>
          <a:stretch>
            <a:fillRect/>
          </a:stretch>
        </p:blipFill>
        <p:spPr>
          <a:xfrm>
            <a:off x="4633201" y="1998861"/>
            <a:ext cx="6903269" cy="40971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58304"/>
            <a:ext cx="1760890" cy="254397"/>
          </a:xfrm>
          <a:prstGeom prst="roundRect">
            <a:avLst>
              <a:gd name="adj" fmla="val 22117"/>
            </a:avLst>
          </a:prstGeom>
          <a:solidFill>
            <a:srgbClr val="4B2D01"/>
          </a:solidFill>
          <a:ln/>
        </p:spPr>
        <p:txBody>
          <a:bodyPr/>
          <a:lstStyle/>
          <a:p>
            <a:endParaRPr lang="en-US"/>
          </a:p>
        </p:txBody>
      </p:sp>
      <p:sp>
        <p:nvSpPr>
          <p:cNvPr id="3" name="Text 1"/>
          <p:cNvSpPr/>
          <p:nvPr/>
        </p:nvSpPr>
        <p:spPr>
          <a:xfrm>
            <a:off x="761882" y="608509"/>
            <a:ext cx="2169661" cy="153987"/>
          </a:xfrm>
          <a:prstGeom prst="rect">
            <a:avLst/>
          </a:prstGeom>
          <a:noFill/>
          <a:ln/>
        </p:spPr>
        <p:txBody>
          <a:bodyPr wrap="none" lIns="0" tIns="0" rIns="0" bIns="0" rtlCol="0" anchor="t"/>
          <a:lstStyle/>
          <a:p>
            <a:pPr marL="0" indent="0" algn="l">
              <a:lnSpc>
                <a:spcPct val="96000"/>
              </a:lnSpc>
              <a:buNone/>
            </a:pPr>
            <a:r>
              <a:rPr lang="en-US" sz="1050" dirty="0">
                <a:solidFill>
                  <a:srgbClr val="FFFFFF"/>
                </a:solidFill>
                <a:latin typeface="Inter" pitchFamily="34" charset="0"/>
                <a:ea typeface="Inter" pitchFamily="34" charset="-122"/>
                <a:cs typeface="Inter" pitchFamily="34" charset="-120"/>
              </a:rPr>
              <a:t>RESEARCH QUESTION 9</a:t>
            </a:r>
            <a:endParaRPr lang="en-US" sz="1050" dirty="0"/>
          </a:p>
        </p:txBody>
      </p:sp>
      <p:sp>
        <p:nvSpPr>
          <p:cNvPr id="4" name="Text 2"/>
          <p:cNvSpPr/>
          <p:nvPr/>
        </p:nvSpPr>
        <p:spPr>
          <a:xfrm>
            <a:off x="661475" y="872034"/>
            <a:ext cx="10868745" cy="523379"/>
          </a:xfrm>
          <a:prstGeom prst="rect">
            <a:avLst/>
          </a:prstGeom>
          <a:noFill/>
          <a:ln/>
        </p:spPr>
        <p:txBody>
          <a:bodyPr wrap="none" lIns="0" tIns="0" rIns="0" bIns="0" rtlCol="0" anchor="t"/>
          <a:lstStyle/>
          <a:p>
            <a:pPr marL="0" indent="0" algn="l">
              <a:lnSpc>
                <a:spcPct val="104000"/>
              </a:lnSpc>
              <a:buNone/>
            </a:pPr>
            <a:r>
              <a:rPr lang="en-US" sz="3250" b="1" dirty="0">
                <a:solidFill>
                  <a:srgbClr val="FFFFFF"/>
                </a:solidFill>
                <a:latin typeface="Inter Bold" pitchFamily="34" charset="0"/>
                <a:ea typeface="Inter Bold" pitchFamily="34" charset="-122"/>
                <a:cs typeface="Inter Bold" pitchFamily="34" charset="-120"/>
              </a:rPr>
              <a:t>Seasonal Patterns in Reviews &amp; Ratings</a:t>
            </a:r>
            <a:endParaRPr lang="en-US" sz="3250" dirty="0"/>
          </a:p>
        </p:txBody>
      </p:sp>
      <p:pic>
        <p:nvPicPr>
          <p:cNvPr id="5" name="Image 0" descr="preencoded.png"/>
          <p:cNvPicPr>
            <a:picLocks noChangeAspect="1"/>
          </p:cNvPicPr>
          <p:nvPr/>
        </p:nvPicPr>
        <p:blipFill>
          <a:blip r:embed="rId3"/>
          <a:stretch>
            <a:fillRect/>
          </a:stretch>
        </p:blipFill>
        <p:spPr>
          <a:xfrm>
            <a:off x="383074" y="1668462"/>
            <a:ext cx="5096938" cy="2745978"/>
          </a:xfrm>
          <a:prstGeom prst="rect">
            <a:avLst/>
          </a:prstGeom>
        </p:spPr>
      </p:pic>
      <p:sp>
        <p:nvSpPr>
          <p:cNvPr id="6" name="Text 3"/>
          <p:cNvSpPr/>
          <p:nvPr/>
        </p:nvSpPr>
        <p:spPr>
          <a:xfrm>
            <a:off x="7998022" y="1766193"/>
            <a:ext cx="3538449" cy="261640"/>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Peak Review Volume</a:t>
            </a:r>
            <a:endParaRPr lang="en-US" sz="1600" dirty="0"/>
          </a:p>
        </p:txBody>
      </p:sp>
      <p:sp>
        <p:nvSpPr>
          <p:cNvPr id="7" name="Text 4"/>
          <p:cNvSpPr/>
          <p:nvPr/>
        </p:nvSpPr>
        <p:spPr>
          <a:xfrm>
            <a:off x="7998022" y="2176165"/>
            <a:ext cx="3538449" cy="757833"/>
          </a:xfrm>
          <a:prstGeom prst="rect">
            <a:avLst/>
          </a:prstGeom>
          <a:noFill/>
          <a:ln/>
        </p:spPr>
        <p:txBody>
          <a:bodyPr wrap="square" lIns="0" tIns="0" rIns="0" bIns="0" rtlCol="0" anchor="t">
            <a:normAutofit/>
          </a:bodyPr>
          <a:lstStyle/>
          <a:p>
            <a:pPr marL="0" indent="0" algn="l">
              <a:lnSpc>
                <a:spcPct val="126000"/>
              </a:lnSpc>
              <a:buNone/>
            </a:pPr>
            <a:r>
              <a:rPr lang="en-US" sz="1300" b="1" dirty="0">
                <a:solidFill>
                  <a:srgbClr val="FFFFFF"/>
                </a:solidFill>
                <a:latin typeface="Inter Bold" pitchFamily="34" charset="0"/>
                <a:ea typeface="Inter Bold" pitchFamily="34" charset="-122"/>
                <a:cs typeface="Inter Bold" pitchFamily="34" charset="-120"/>
              </a:rPr>
              <a:t>June</a:t>
            </a:r>
            <a:r>
              <a:rPr lang="en-US" sz="1300" dirty="0">
                <a:solidFill>
                  <a:srgbClr val="FFFFFF"/>
                </a:solidFill>
                <a:latin typeface="Inter" pitchFamily="34" charset="0"/>
                <a:ea typeface="Inter" pitchFamily="34" charset="-122"/>
                <a:cs typeface="Inter" pitchFamily="34" charset="-120"/>
              </a:rPr>
              <a:t> recorded the highest number of reviews with </a:t>
            </a:r>
            <a:r>
              <a:rPr lang="en-US" sz="1300" b="1" dirty="0">
                <a:solidFill>
                  <a:srgbClr val="FFFFFF"/>
                </a:solidFill>
                <a:latin typeface="Inter Bold" pitchFamily="34" charset="0"/>
                <a:ea typeface="Inter Bold" pitchFamily="34" charset="-122"/>
                <a:cs typeface="Inter Bold" pitchFamily="34" charset="-120"/>
              </a:rPr>
              <a:t>66,386</a:t>
            </a:r>
            <a:r>
              <a:rPr lang="en-US" sz="1300" dirty="0">
                <a:solidFill>
                  <a:srgbClr val="FFFFFF"/>
                </a:solidFill>
                <a:latin typeface="Inter" pitchFamily="34" charset="0"/>
                <a:ea typeface="Inter" pitchFamily="34" charset="-122"/>
                <a:cs typeface="Inter" pitchFamily="34" charset="-120"/>
              </a:rPr>
              <a:t> total — reflecting peak travel season demand.</a:t>
            </a:r>
            <a:endParaRPr lang="en-US" sz="1300" dirty="0"/>
          </a:p>
        </p:txBody>
      </p:sp>
      <p:sp>
        <p:nvSpPr>
          <p:cNvPr id="8" name="Text 5"/>
          <p:cNvSpPr/>
          <p:nvPr/>
        </p:nvSpPr>
        <p:spPr>
          <a:xfrm>
            <a:off x="7998022" y="3082330"/>
            <a:ext cx="3538449" cy="261640"/>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Highest Average Rating</a:t>
            </a:r>
            <a:endParaRPr lang="en-US" sz="1600" dirty="0"/>
          </a:p>
        </p:txBody>
      </p:sp>
      <p:sp>
        <p:nvSpPr>
          <p:cNvPr id="9" name="Text 6"/>
          <p:cNvSpPr/>
          <p:nvPr/>
        </p:nvSpPr>
        <p:spPr>
          <a:xfrm>
            <a:off x="7998022" y="3492302"/>
            <a:ext cx="3538449" cy="757833"/>
          </a:xfrm>
          <a:prstGeom prst="rect">
            <a:avLst/>
          </a:prstGeom>
          <a:noFill/>
          <a:ln/>
        </p:spPr>
        <p:txBody>
          <a:bodyPr wrap="square" lIns="0" tIns="0" rIns="0" bIns="0" rtlCol="0" anchor="t">
            <a:normAutofit/>
          </a:bodyPr>
          <a:lstStyle/>
          <a:p>
            <a:pPr marL="0" indent="0" algn="l">
              <a:lnSpc>
                <a:spcPct val="126000"/>
              </a:lnSpc>
              <a:buNone/>
            </a:pPr>
            <a:r>
              <a:rPr lang="en-US" sz="1300" b="1" dirty="0">
                <a:solidFill>
                  <a:srgbClr val="FFFFFF"/>
                </a:solidFill>
                <a:latin typeface="Inter Bold" pitchFamily="34" charset="0"/>
                <a:ea typeface="Inter Bold" pitchFamily="34" charset="-122"/>
                <a:cs typeface="Inter Bold" pitchFamily="34" charset="-120"/>
              </a:rPr>
              <a:t>May</a:t>
            </a:r>
            <a:r>
              <a:rPr lang="en-US" sz="1300" dirty="0">
                <a:solidFill>
                  <a:srgbClr val="FFFFFF"/>
                </a:solidFill>
                <a:latin typeface="Inter" pitchFamily="34" charset="0"/>
                <a:ea typeface="Inter" pitchFamily="34" charset="-122"/>
                <a:cs typeface="Inter" pitchFamily="34" charset="-120"/>
              </a:rPr>
              <a:t> achieved the highest average rating at </a:t>
            </a:r>
            <a:r>
              <a:rPr lang="en-US" sz="1300" b="1" dirty="0">
                <a:solidFill>
                  <a:srgbClr val="FFFFFF"/>
                </a:solidFill>
                <a:latin typeface="Inter Bold" pitchFamily="34" charset="0"/>
                <a:ea typeface="Inter Bold" pitchFamily="34" charset="-122"/>
                <a:cs typeface="Inter Bold" pitchFamily="34" charset="-120"/>
              </a:rPr>
              <a:t>4.98</a:t>
            </a:r>
            <a:r>
              <a:rPr lang="en-US" sz="1300" dirty="0">
                <a:solidFill>
                  <a:srgbClr val="FFFFFF"/>
                </a:solidFill>
                <a:latin typeface="Inter" pitchFamily="34" charset="0"/>
                <a:ea typeface="Inter" pitchFamily="34" charset="-122"/>
                <a:cs typeface="Inter" pitchFamily="34" charset="-120"/>
              </a:rPr>
              <a:t>, suggesting slightly better guest satisfaction just before the busiest month.</a:t>
            </a:r>
            <a:endParaRPr lang="en-US" sz="1300" dirty="0"/>
          </a:p>
        </p:txBody>
      </p:sp>
      <p:pic>
        <p:nvPicPr>
          <p:cNvPr id="10" name="Image 1" descr="preencoded.png"/>
          <p:cNvPicPr>
            <a:picLocks noChangeAspect="1"/>
          </p:cNvPicPr>
          <p:nvPr/>
        </p:nvPicPr>
        <p:blipFill>
          <a:blip r:embed="rId4"/>
          <a:stretch>
            <a:fillRect/>
          </a:stretch>
        </p:blipFill>
        <p:spPr>
          <a:xfrm>
            <a:off x="5480012" y="4270275"/>
            <a:ext cx="4751108" cy="25596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555030"/>
            <a:ext cx="5380697" cy="3193455"/>
          </a:xfrm>
          <a:prstGeom prst="rect">
            <a:avLst/>
          </a:prstGeom>
        </p:spPr>
      </p:pic>
      <p:sp>
        <p:nvSpPr>
          <p:cNvPr id="3" name="Shape 0"/>
          <p:cNvSpPr/>
          <p:nvPr/>
        </p:nvSpPr>
        <p:spPr>
          <a:xfrm>
            <a:off x="661475" y="3849390"/>
            <a:ext cx="1412740" cy="197743"/>
          </a:xfrm>
          <a:prstGeom prst="roundRect">
            <a:avLst>
              <a:gd name="adj" fmla="val 22131"/>
            </a:avLst>
          </a:prstGeom>
          <a:solidFill>
            <a:srgbClr val="4B2D01"/>
          </a:solidFill>
          <a:ln/>
        </p:spPr>
        <p:txBody>
          <a:bodyPr/>
          <a:lstStyle/>
          <a:p>
            <a:endParaRPr lang="en-US"/>
          </a:p>
        </p:txBody>
      </p:sp>
      <p:sp>
        <p:nvSpPr>
          <p:cNvPr id="4" name="Text 1"/>
          <p:cNvSpPr/>
          <p:nvPr/>
        </p:nvSpPr>
        <p:spPr>
          <a:xfrm>
            <a:off x="739558" y="3888383"/>
            <a:ext cx="1866159" cy="119757"/>
          </a:xfrm>
          <a:prstGeom prst="rect">
            <a:avLst/>
          </a:prstGeom>
          <a:noFill/>
          <a:ln/>
        </p:spPr>
        <p:txBody>
          <a:bodyPr wrap="none" lIns="0" tIns="0" rIns="0" bIns="0" rtlCol="0" anchor="t"/>
          <a:lstStyle/>
          <a:p>
            <a:pPr marL="0" indent="0" algn="l">
              <a:lnSpc>
                <a:spcPct val="96000"/>
              </a:lnSpc>
              <a:buNone/>
            </a:pPr>
            <a:r>
              <a:rPr lang="en-US" sz="800" dirty="0">
                <a:solidFill>
                  <a:srgbClr val="FFFFFF"/>
                </a:solidFill>
                <a:latin typeface="Inter" pitchFamily="34" charset="0"/>
                <a:ea typeface="Inter" pitchFamily="34" charset="-122"/>
                <a:cs typeface="Inter" pitchFamily="34" charset="-120"/>
              </a:rPr>
              <a:t>RESEARCH QUESTION 10</a:t>
            </a:r>
            <a:endParaRPr lang="en-US" sz="800" dirty="0"/>
          </a:p>
        </p:txBody>
      </p:sp>
      <p:sp>
        <p:nvSpPr>
          <p:cNvPr id="5" name="Text 2"/>
          <p:cNvSpPr/>
          <p:nvPr/>
        </p:nvSpPr>
        <p:spPr>
          <a:xfrm>
            <a:off x="661475" y="4082951"/>
            <a:ext cx="10868745" cy="406995"/>
          </a:xfrm>
          <a:prstGeom prst="rect">
            <a:avLst/>
          </a:prstGeom>
          <a:noFill/>
          <a:ln/>
        </p:spPr>
        <p:txBody>
          <a:bodyPr wrap="none" lIns="0" tIns="0" rIns="0" bIns="0" rtlCol="0" anchor="t"/>
          <a:lstStyle/>
          <a:p>
            <a:pPr marL="0" indent="0" algn="l">
              <a:lnSpc>
                <a:spcPct val="104000"/>
              </a:lnSpc>
              <a:buNone/>
            </a:pPr>
            <a:r>
              <a:rPr lang="en-US" sz="2550" b="1" dirty="0">
                <a:solidFill>
                  <a:srgbClr val="FFFFFF"/>
                </a:solidFill>
                <a:latin typeface="Inter Bold" pitchFamily="34" charset="0"/>
                <a:ea typeface="Inter Bold" pitchFamily="34" charset="-122"/>
                <a:cs typeface="Inter Bold" pitchFamily="34" charset="-120"/>
              </a:rPr>
              <a:t>How to Improve Poorly Rated Listings</a:t>
            </a:r>
            <a:endParaRPr lang="en-US" sz="2550" dirty="0"/>
          </a:p>
        </p:txBody>
      </p:sp>
      <p:sp>
        <p:nvSpPr>
          <p:cNvPr id="6" name="Shape 3"/>
          <p:cNvSpPr/>
          <p:nvPr/>
        </p:nvSpPr>
        <p:spPr>
          <a:xfrm>
            <a:off x="661475" y="4624487"/>
            <a:ext cx="5389527" cy="706338"/>
          </a:xfrm>
          <a:prstGeom prst="roundRect">
            <a:avLst>
              <a:gd name="adj" fmla="val 7745"/>
            </a:avLst>
          </a:prstGeom>
          <a:solidFill>
            <a:srgbClr val="7D4B02"/>
          </a:solidFill>
          <a:ln w="6350">
            <a:solidFill>
              <a:srgbClr val="96641B"/>
            </a:solidFill>
            <a:prstDash val="solid"/>
          </a:ln>
        </p:spPr>
        <p:txBody>
          <a:bodyPr/>
          <a:lstStyle/>
          <a:p>
            <a:endParaRPr lang="en-US"/>
          </a:p>
        </p:txBody>
      </p:sp>
      <p:sp>
        <p:nvSpPr>
          <p:cNvPr id="7" name="Text 4"/>
          <p:cNvSpPr/>
          <p:nvPr/>
        </p:nvSpPr>
        <p:spPr>
          <a:xfrm>
            <a:off x="797996" y="4761012"/>
            <a:ext cx="5116484" cy="203498"/>
          </a:xfrm>
          <a:prstGeom prst="rect">
            <a:avLst/>
          </a:prstGeom>
          <a:noFill/>
          <a:ln/>
        </p:spPr>
        <p:txBody>
          <a:bodyPr wrap="none" lIns="0" tIns="0" rIns="0" bIns="0" rtlCol="0" anchor="t"/>
          <a:lstStyle/>
          <a:p>
            <a:pPr marL="0" indent="0" algn="l">
              <a:lnSpc>
                <a:spcPct val="104000"/>
              </a:lnSpc>
              <a:buNone/>
            </a:pPr>
            <a:r>
              <a:rPr lang="en-US" sz="1250" b="1" dirty="0">
                <a:solidFill>
                  <a:srgbClr val="FFFFFF"/>
                </a:solidFill>
                <a:latin typeface="Inter Bold" pitchFamily="34" charset="0"/>
                <a:ea typeface="Inter Bold" pitchFamily="34" charset="-122"/>
                <a:cs typeface="Inter Bold" pitchFamily="34" charset="-120"/>
              </a:rPr>
              <a:t>Service Quality</a:t>
            </a:r>
            <a:endParaRPr lang="en-US" sz="1250" dirty="0"/>
          </a:p>
        </p:txBody>
      </p:sp>
      <p:sp>
        <p:nvSpPr>
          <p:cNvPr id="8" name="Text 5"/>
          <p:cNvSpPr/>
          <p:nvPr/>
        </p:nvSpPr>
        <p:spPr>
          <a:xfrm>
            <a:off x="797996" y="5018286"/>
            <a:ext cx="5116484" cy="176014"/>
          </a:xfrm>
          <a:prstGeom prst="rect">
            <a:avLst/>
          </a:prstGeom>
          <a:noFill/>
          <a:ln/>
        </p:spPr>
        <p:txBody>
          <a:bodyPr wrap="none" lIns="0" tIns="0" rIns="0" bIns="0" rtlCol="0" anchor="t"/>
          <a:lstStyle/>
          <a:p>
            <a:pPr marL="0" indent="0" algn="l">
              <a:lnSpc>
                <a:spcPct val="113000"/>
              </a:lnSpc>
              <a:buNone/>
            </a:pPr>
            <a:r>
              <a:rPr lang="en-US" sz="1000" dirty="0">
                <a:solidFill>
                  <a:srgbClr val="FFFFFF"/>
                </a:solidFill>
                <a:latin typeface="Inter" pitchFamily="34" charset="0"/>
                <a:ea typeface="Inter" pitchFamily="34" charset="-122"/>
                <a:cs typeface="Inter" pitchFamily="34" charset="-120"/>
              </a:rPr>
              <a:t>Prioritize cleanliness, property condition, and accurate listing descriptions.</a:t>
            </a:r>
            <a:endParaRPr lang="en-US" sz="1000" dirty="0"/>
          </a:p>
        </p:txBody>
      </p:sp>
      <p:sp>
        <p:nvSpPr>
          <p:cNvPr id="9" name="Shape 6"/>
          <p:cNvSpPr/>
          <p:nvPr/>
        </p:nvSpPr>
        <p:spPr>
          <a:xfrm>
            <a:off x="6140693" y="4624487"/>
            <a:ext cx="5389527" cy="706338"/>
          </a:xfrm>
          <a:prstGeom prst="roundRect">
            <a:avLst>
              <a:gd name="adj" fmla="val 7745"/>
            </a:avLst>
          </a:prstGeom>
          <a:solidFill>
            <a:srgbClr val="7D4B02"/>
          </a:solidFill>
          <a:ln w="6350">
            <a:solidFill>
              <a:srgbClr val="96641B"/>
            </a:solidFill>
            <a:prstDash val="solid"/>
          </a:ln>
        </p:spPr>
        <p:txBody>
          <a:bodyPr/>
          <a:lstStyle/>
          <a:p>
            <a:endParaRPr lang="en-US"/>
          </a:p>
        </p:txBody>
      </p:sp>
      <p:sp>
        <p:nvSpPr>
          <p:cNvPr id="10" name="Text 7"/>
          <p:cNvSpPr/>
          <p:nvPr/>
        </p:nvSpPr>
        <p:spPr>
          <a:xfrm>
            <a:off x="6277215" y="4761012"/>
            <a:ext cx="5116484" cy="203498"/>
          </a:xfrm>
          <a:prstGeom prst="rect">
            <a:avLst/>
          </a:prstGeom>
          <a:noFill/>
          <a:ln/>
        </p:spPr>
        <p:txBody>
          <a:bodyPr wrap="none" lIns="0" tIns="0" rIns="0" bIns="0" rtlCol="0" anchor="t"/>
          <a:lstStyle/>
          <a:p>
            <a:pPr marL="0" indent="0" algn="l">
              <a:lnSpc>
                <a:spcPct val="104000"/>
              </a:lnSpc>
              <a:buNone/>
            </a:pPr>
            <a:r>
              <a:rPr lang="en-US" sz="1250" b="1" dirty="0">
                <a:solidFill>
                  <a:srgbClr val="FFFFFF"/>
                </a:solidFill>
                <a:latin typeface="Inter Bold" pitchFamily="34" charset="0"/>
                <a:ea typeface="Inter Bold" pitchFamily="34" charset="-122"/>
                <a:cs typeface="Inter Bold" pitchFamily="34" charset="-120"/>
              </a:rPr>
              <a:t>Guest Expectations</a:t>
            </a:r>
            <a:endParaRPr lang="en-US" sz="1250" dirty="0"/>
          </a:p>
        </p:txBody>
      </p:sp>
      <p:sp>
        <p:nvSpPr>
          <p:cNvPr id="11" name="Text 8"/>
          <p:cNvSpPr/>
          <p:nvPr/>
        </p:nvSpPr>
        <p:spPr>
          <a:xfrm>
            <a:off x="6277215" y="5018286"/>
            <a:ext cx="5116484" cy="176014"/>
          </a:xfrm>
          <a:prstGeom prst="rect">
            <a:avLst/>
          </a:prstGeom>
          <a:noFill/>
          <a:ln/>
        </p:spPr>
        <p:txBody>
          <a:bodyPr wrap="none" lIns="0" tIns="0" rIns="0" bIns="0" rtlCol="0" anchor="t"/>
          <a:lstStyle/>
          <a:p>
            <a:pPr marL="0" indent="0" algn="l">
              <a:lnSpc>
                <a:spcPct val="113000"/>
              </a:lnSpc>
              <a:buNone/>
            </a:pPr>
            <a:r>
              <a:rPr lang="en-US" sz="1000" dirty="0">
                <a:solidFill>
                  <a:srgbClr val="FFFFFF"/>
                </a:solidFill>
                <a:latin typeface="Inter" pitchFamily="34" charset="0"/>
                <a:ea typeface="Inter" pitchFamily="34" charset="-122"/>
                <a:cs typeface="Inter" pitchFamily="34" charset="-120"/>
              </a:rPr>
              <a:t>Manage expectations proactively — overpromising leads to disappointment.</a:t>
            </a:r>
            <a:endParaRPr lang="en-US" sz="1000" dirty="0"/>
          </a:p>
        </p:txBody>
      </p:sp>
      <p:sp>
        <p:nvSpPr>
          <p:cNvPr id="12" name="Shape 9"/>
          <p:cNvSpPr/>
          <p:nvPr/>
        </p:nvSpPr>
        <p:spPr>
          <a:xfrm>
            <a:off x="661475" y="5420519"/>
            <a:ext cx="5389527" cy="882352"/>
          </a:xfrm>
          <a:prstGeom prst="roundRect">
            <a:avLst>
              <a:gd name="adj" fmla="val 6200"/>
            </a:avLst>
          </a:prstGeom>
          <a:solidFill>
            <a:srgbClr val="7D4B02"/>
          </a:solidFill>
          <a:ln w="6350">
            <a:solidFill>
              <a:srgbClr val="96641B"/>
            </a:solidFill>
            <a:prstDash val="solid"/>
          </a:ln>
        </p:spPr>
        <p:txBody>
          <a:bodyPr/>
          <a:lstStyle/>
          <a:p>
            <a:endParaRPr lang="en-US"/>
          </a:p>
        </p:txBody>
      </p:sp>
      <p:sp>
        <p:nvSpPr>
          <p:cNvPr id="13" name="Text 10"/>
          <p:cNvSpPr/>
          <p:nvPr/>
        </p:nvSpPr>
        <p:spPr>
          <a:xfrm>
            <a:off x="797996" y="5557044"/>
            <a:ext cx="5116484" cy="203498"/>
          </a:xfrm>
          <a:prstGeom prst="rect">
            <a:avLst/>
          </a:prstGeom>
          <a:noFill/>
          <a:ln/>
        </p:spPr>
        <p:txBody>
          <a:bodyPr wrap="none" lIns="0" tIns="0" rIns="0" bIns="0" rtlCol="0" anchor="t"/>
          <a:lstStyle/>
          <a:p>
            <a:pPr marL="0" indent="0" algn="l">
              <a:lnSpc>
                <a:spcPct val="104000"/>
              </a:lnSpc>
              <a:buNone/>
            </a:pPr>
            <a:r>
              <a:rPr lang="en-US" sz="1250" b="1" dirty="0">
                <a:solidFill>
                  <a:srgbClr val="FFFFFF"/>
                </a:solidFill>
                <a:latin typeface="Inter Bold" pitchFamily="34" charset="0"/>
                <a:ea typeface="Inter Bold" pitchFamily="34" charset="-122"/>
                <a:cs typeface="Inter Bold" pitchFamily="34" charset="-120"/>
              </a:rPr>
              <a:t>Smart Pricing</a:t>
            </a:r>
            <a:endParaRPr lang="en-US" sz="1250" dirty="0"/>
          </a:p>
        </p:txBody>
      </p:sp>
      <p:sp>
        <p:nvSpPr>
          <p:cNvPr id="14" name="Text 11"/>
          <p:cNvSpPr/>
          <p:nvPr/>
        </p:nvSpPr>
        <p:spPr>
          <a:xfrm>
            <a:off x="797996" y="5814318"/>
            <a:ext cx="5116484" cy="176014"/>
          </a:xfrm>
          <a:prstGeom prst="rect">
            <a:avLst/>
          </a:prstGeom>
          <a:noFill/>
          <a:ln/>
        </p:spPr>
        <p:txBody>
          <a:bodyPr wrap="none" lIns="0" tIns="0" rIns="0" bIns="0" rtlCol="0" anchor="t"/>
          <a:lstStyle/>
          <a:p>
            <a:pPr marL="0" indent="0" algn="l">
              <a:lnSpc>
                <a:spcPct val="113000"/>
              </a:lnSpc>
              <a:buNone/>
            </a:pPr>
            <a:r>
              <a:rPr lang="en-US" sz="1000" dirty="0">
                <a:solidFill>
                  <a:srgbClr val="FFFFFF"/>
                </a:solidFill>
                <a:latin typeface="Inter" pitchFamily="34" charset="0"/>
                <a:ea typeface="Inter" pitchFamily="34" charset="-122"/>
                <a:cs typeface="Inter" pitchFamily="34" charset="-120"/>
              </a:rPr>
              <a:t>Position and price the property competitively relative to its local market.</a:t>
            </a:r>
            <a:endParaRPr lang="en-US" sz="1000" dirty="0"/>
          </a:p>
        </p:txBody>
      </p:sp>
      <p:sp>
        <p:nvSpPr>
          <p:cNvPr id="15" name="Shape 12"/>
          <p:cNvSpPr/>
          <p:nvPr/>
        </p:nvSpPr>
        <p:spPr>
          <a:xfrm>
            <a:off x="6140693" y="5420519"/>
            <a:ext cx="5389527" cy="882352"/>
          </a:xfrm>
          <a:prstGeom prst="roundRect">
            <a:avLst>
              <a:gd name="adj" fmla="val 6200"/>
            </a:avLst>
          </a:prstGeom>
          <a:solidFill>
            <a:srgbClr val="7D4B02"/>
          </a:solidFill>
          <a:ln w="6350">
            <a:solidFill>
              <a:srgbClr val="96641B"/>
            </a:solidFill>
            <a:prstDash val="solid"/>
          </a:ln>
        </p:spPr>
        <p:txBody>
          <a:bodyPr/>
          <a:lstStyle/>
          <a:p>
            <a:endParaRPr lang="en-US"/>
          </a:p>
        </p:txBody>
      </p:sp>
      <p:sp>
        <p:nvSpPr>
          <p:cNvPr id="16" name="Text 13"/>
          <p:cNvSpPr/>
          <p:nvPr/>
        </p:nvSpPr>
        <p:spPr>
          <a:xfrm>
            <a:off x="6277215" y="5557044"/>
            <a:ext cx="5116484" cy="203498"/>
          </a:xfrm>
          <a:prstGeom prst="rect">
            <a:avLst/>
          </a:prstGeom>
          <a:noFill/>
          <a:ln/>
        </p:spPr>
        <p:txBody>
          <a:bodyPr wrap="none" lIns="0" tIns="0" rIns="0" bIns="0" rtlCol="0" anchor="t"/>
          <a:lstStyle/>
          <a:p>
            <a:pPr marL="0" indent="0" algn="l">
              <a:lnSpc>
                <a:spcPct val="104000"/>
              </a:lnSpc>
              <a:buNone/>
            </a:pPr>
            <a:r>
              <a:rPr lang="en-US" sz="1250" b="1" dirty="0">
                <a:solidFill>
                  <a:srgbClr val="FFFFFF"/>
                </a:solidFill>
                <a:latin typeface="Inter Bold" pitchFamily="34" charset="0"/>
                <a:ea typeface="Inter Bold" pitchFamily="34" charset="-122"/>
                <a:cs typeface="Inter Bold" pitchFamily="34" charset="-120"/>
              </a:rPr>
              <a:t>Amenity Quality</a:t>
            </a:r>
            <a:endParaRPr lang="en-US" sz="1250" dirty="0"/>
          </a:p>
        </p:txBody>
      </p:sp>
      <p:sp>
        <p:nvSpPr>
          <p:cNvPr id="17" name="Text 14"/>
          <p:cNvSpPr/>
          <p:nvPr/>
        </p:nvSpPr>
        <p:spPr>
          <a:xfrm>
            <a:off x="6277215" y="5814318"/>
            <a:ext cx="5116484" cy="352028"/>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FFFFFF"/>
                </a:solidFill>
                <a:latin typeface="Inter" pitchFamily="34" charset="0"/>
                <a:ea typeface="Inter" pitchFamily="34" charset="-122"/>
                <a:cs typeface="Inter" pitchFamily="34" charset="-120"/>
              </a:rPr>
              <a:t>Amenities should support the experience — quantity alone does not improve ratings.</a:t>
            </a:r>
            <a:endParaRPr lang="en-US" sz="1000" dirty="0"/>
          </a:p>
        </p:txBody>
      </p:sp>
      <p:pic>
        <p:nvPicPr>
          <p:cNvPr id="18" name="Image 1" descr="preencoded.png">
            <a:extLst>
              <a:ext uri="{FF2B5EF4-FFF2-40B4-BE49-F238E27FC236}">
                <a16:creationId xmlns:a16="http://schemas.microsoft.com/office/drawing/2014/main" id="{DB9442F1-D5AC-3571-D7F6-3D12B1F583A5}"/>
              </a:ext>
            </a:extLst>
          </p:cNvPr>
          <p:cNvPicPr>
            <a:picLocks noChangeAspect="1"/>
          </p:cNvPicPr>
          <p:nvPr/>
        </p:nvPicPr>
        <p:blipFill>
          <a:blip r:embed="rId4"/>
          <a:stretch>
            <a:fillRect/>
          </a:stretch>
        </p:blipFill>
        <p:spPr>
          <a:xfrm>
            <a:off x="7130894" y="437010"/>
            <a:ext cx="3864970" cy="38650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700881"/>
            <a:ext cx="6296860" cy="531614"/>
          </a:xfrm>
          <a:prstGeom prst="rect">
            <a:avLst/>
          </a:prstGeom>
          <a:noFill/>
          <a:ln/>
        </p:spPr>
        <p:txBody>
          <a:bodyPr wrap="none" lIns="0" tIns="0" rIns="0" bIns="0" rtlCol="0" anchor="t"/>
          <a:lstStyle/>
          <a:p>
            <a:pPr marL="0" indent="0" algn="l">
              <a:lnSpc>
                <a:spcPct val="104000"/>
              </a:lnSpc>
              <a:buNone/>
            </a:pPr>
            <a:r>
              <a:rPr lang="en-US" sz="3300" b="1" dirty="0">
                <a:solidFill>
                  <a:srgbClr val="FFFFFF"/>
                </a:solidFill>
                <a:latin typeface="Inter Bold" pitchFamily="34" charset="0"/>
                <a:ea typeface="Inter Bold" pitchFamily="34" charset="-122"/>
                <a:cs typeface="Inter Bold" pitchFamily="34" charset="-120"/>
              </a:rPr>
              <a:t>Conclusions</a:t>
            </a:r>
            <a:endParaRPr lang="en-US" sz="33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1462088"/>
            <a:ext cx="6296860" cy="994271"/>
          </a:xfrm>
          <a:prstGeom prst="rect">
            <a:avLst/>
          </a:prstGeom>
        </p:spPr>
      </p:pic>
      <p:sp>
        <p:nvSpPr>
          <p:cNvPr id="5" name="Text 1"/>
          <p:cNvSpPr/>
          <p:nvPr/>
        </p:nvSpPr>
        <p:spPr>
          <a:xfrm>
            <a:off x="5498665" y="1651198"/>
            <a:ext cx="5842449" cy="265708"/>
          </a:xfrm>
          <a:prstGeom prst="rect">
            <a:avLst/>
          </a:prstGeom>
          <a:noFill/>
          <a:ln/>
        </p:spPr>
        <p:txBody>
          <a:bodyPr wrap="none" lIns="0" tIns="0" rIns="0" bIns="0" rtlCol="0" anchor="t"/>
          <a:lstStyle/>
          <a:p>
            <a:pPr marL="0" indent="0" algn="l">
              <a:lnSpc>
                <a:spcPct val="104000"/>
              </a:lnSpc>
              <a:buNone/>
            </a:pPr>
            <a:r>
              <a:rPr lang="en-US" sz="1650" b="1" dirty="0">
                <a:solidFill>
                  <a:srgbClr val="FFFFFF"/>
                </a:solidFill>
                <a:latin typeface="Inter Bold" pitchFamily="34" charset="0"/>
                <a:ea typeface="Inter Bold" pitchFamily="34" charset="-122"/>
                <a:cs typeface="Inter Bold" pitchFamily="34" charset="-120"/>
              </a:rPr>
              <a:t>Ratings Are Generally High</a:t>
            </a:r>
            <a:endParaRPr lang="en-US" sz="1650" dirty="0"/>
          </a:p>
        </p:txBody>
      </p:sp>
      <p:sp>
        <p:nvSpPr>
          <p:cNvPr id="6" name="Text 2"/>
          <p:cNvSpPr/>
          <p:nvPr/>
        </p:nvSpPr>
        <p:spPr>
          <a:xfrm>
            <a:off x="5498665" y="2008684"/>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FFFFFF"/>
                </a:solidFill>
                <a:latin typeface="Inter" pitchFamily="34" charset="0"/>
                <a:ea typeface="Inter" pitchFamily="34" charset="-122"/>
                <a:cs typeface="Inter" pitchFamily="34" charset="-120"/>
              </a:rPr>
              <a:t>76.16% of listings are highly rated; only 3.31% are poorly rated.</a:t>
            </a:r>
            <a:endParaRPr lang="en-US" sz="13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2609453"/>
            <a:ext cx="6296860" cy="994271"/>
          </a:xfrm>
          <a:prstGeom prst="rect">
            <a:avLst/>
          </a:prstGeom>
        </p:spPr>
      </p:pic>
      <p:sp>
        <p:nvSpPr>
          <p:cNvPr id="8" name="Text 3"/>
          <p:cNvSpPr/>
          <p:nvPr/>
        </p:nvSpPr>
        <p:spPr>
          <a:xfrm>
            <a:off x="5498665" y="2798564"/>
            <a:ext cx="5842449" cy="265708"/>
          </a:xfrm>
          <a:prstGeom prst="rect">
            <a:avLst/>
          </a:prstGeom>
          <a:noFill/>
          <a:ln/>
        </p:spPr>
        <p:txBody>
          <a:bodyPr wrap="none" lIns="0" tIns="0" rIns="0" bIns="0" rtlCol="0" anchor="t"/>
          <a:lstStyle/>
          <a:p>
            <a:pPr marL="0" indent="0" algn="l">
              <a:lnSpc>
                <a:spcPct val="104000"/>
              </a:lnSpc>
              <a:buNone/>
            </a:pPr>
            <a:r>
              <a:rPr lang="en-US" sz="1650" b="1" dirty="0">
                <a:solidFill>
                  <a:srgbClr val="FFFFFF"/>
                </a:solidFill>
                <a:latin typeface="Inter Bold" pitchFamily="34" charset="0"/>
                <a:ea typeface="Inter Bold" pitchFamily="34" charset="-122"/>
                <a:cs typeface="Inter Bold" pitchFamily="34" charset="-120"/>
              </a:rPr>
              <a:t>Price Matters, But Isn't Everything</a:t>
            </a:r>
            <a:endParaRPr lang="en-US" sz="1650" dirty="0"/>
          </a:p>
        </p:txBody>
      </p:sp>
      <p:sp>
        <p:nvSpPr>
          <p:cNvPr id="9" name="Text 4"/>
          <p:cNvSpPr/>
          <p:nvPr/>
        </p:nvSpPr>
        <p:spPr>
          <a:xfrm>
            <a:off x="5498665" y="3156049"/>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FFFFFF"/>
                </a:solidFill>
                <a:latin typeface="Inter" pitchFamily="34" charset="0"/>
                <a:ea typeface="Inter" pitchFamily="34" charset="-122"/>
                <a:cs typeface="Inter" pitchFamily="34" charset="-120"/>
              </a:rPr>
              <a:t>Highly rated listings cost more, but price alone doesn't explain ratings.</a:t>
            </a:r>
            <a:endParaRPr lang="en-US" sz="13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3756819"/>
            <a:ext cx="6296860" cy="994271"/>
          </a:xfrm>
          <a:prstGeom prst="rect">
            <a:avLst/>
          </a:prstGeom>
        </p:spPr>
      </p:pic>
      <p:sp>
        <p:nvSpPr>
          <p:cNvPr id="11" name="Text 5"/>
          <p:cNvSpPr/>
          <p:nvPr/>
        </p:nvSpPr>
        <p:spPr>
          <a:xfrm>
            <a:off x="5498665" y="3945930"/>
            <a:ext cx="5842449" cy="265708"/>
          </a:xfrm>
          <a:prstGeom prst="rect">
            <a:avLst/>
          </a:prstGeom>
          <a:noFill/>
          <a:ln/>
        </p:spPr>
        <p:txBody>
          <a:bodyPr wrap="none" lIns="0" tIns="0" rIns="0" bIns="0" rtlCol="0" anchor="t"/>
          <a:lstStyle/>
          <a:p>
            <a:pPr marL="0" indent="0" algn="l">
              <a:lnSpc>
                <a:spcPct val="104000"/>
              </a:lnSpc>
              <a:buNone/>
            </a:pPr>
            <a:r>
              <a:rPr lang="en-US" sz="1650" b="1" dirty="0">
                <a:solidFill>
                  <a:srgbClr val="FFFFFF"/>
                </a:solidFill>
                <a:latin typeface="Inter Bold" pitchFamily="34" charset="0"/>
                <a:ea typeface="Inter Bold" pitchFamily="34" charset="-122"/>
                <a:cs typeface="Inter Bold" pitchFamily="34" charset="-120"/>
              </a:rPr>
              <a:t>Property Type &amp; Location Are Key</a:t>
            </a:r>
            <a:endParaRPr lang="en-US" sz="1650" dirty="0"/>
          </a:p>
        </p:txBody>
      </p:sp>
      <p:sp>
        <p:nvSpPr>
          <p:cNvPr id="12" name="Text 6"/>
          <p:cNvSpPr/>
          <p:nvPr/>
        </p:nvSpPr>
        <p:spPr>
          <a:xfrm>
            <a:off x="5498665" y="4303415"/>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FFFFFF"/>
                </a:solidFill>
                <a:latin typeface="Inter" pitchFamily="34" charset="0"/>
                <a:ea typeface="Inter" pitchFamily="34" charset="-122"/>
                <a:cs typeface="Inter" pitchFamily="34" charset="-120"/>
              </a:rPr>
              <a:t>Both ratings and prices differ significantly by property type and location.</a:t>
            </a:r>
            <a:endParaRPr lang="en-US" sz="13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4904184"/>
            <a:ext cx="6296860" cy="1252835"/>
          </a:xfrm>
          <a:prstGeom prst="rect">
            <a:avLst/>
          </a:prstGeom>
        </p:spPr>
      </p:pic>
      <p:sp>
        <p:nvSpPr>
          <p:cNvPr id="14" name="Text 7"/>
          <p:cNvSpPr/>
          <p:nvPr/>
        </p:nvSpPr>
        <p:spPr>
          <a:xfrm>
            <a:off x="5498665" y="5093295"/>
            <a:ext cx="5842449" cy="265708"/>
          </a:xfrm>
          <a:prstGeom prst="rect">
            <a:avLst/>
          </a:prstGeom>
          <a:noFill/>
          <a:ln/>
        </p:spPr>
        <p:txBody>
          <a:bodyPr wrap="none" lIns="0" tIns="0" rIns="0" bIns="0" rtlCol="0" anchor="t"/>
          <a:lstStyle/>
          <a:p>
            <a:pPr marL="0" indent="0" algn="l">
              <a:lnSpc>
                <a:spcPct val="104000"/>
              </a:lnSpc>
              <a:buNone/>
            </a:pPr>
            <a:r>
              <a:rPr lang="en-US" sz="1650" b="1" dirty="0">
                <a:solidFill>
                  <a:srgbClr val="FFFFFF"/>
                </a:solidFill>
                <a:latin typeface="Inter Bold" pitchFamily="34" charset="0"/>
                <a:ea typeface="Inter Bold" pitchFamily="34" charset="-122"/>
                <a:cs typeface="Inter Bold" pitchFamily="34" charset="-120"/>
              </a:rPr>
              <a:t>Amenities &amp; Reviews Have Limited Impact</a:t>
            </a:r>
            <a:endParaRPr lang="en-US" sz="1650" dirty="0"/>
          </a:p>
        </p:txBody>
      </p:sp>
      <p:sp>
        <p:nvSpPr>
          <p:cNvPr id="15" name="Text 8"/>
          <p:cNvSpPr/>
          <p:nvPr/>
        </p:nvSpPr>
        <p:spPr>
          <a:xfrm>
            <a:off x="5498665" y="5450780"/>
            <a:ext cx="5842449"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FFFFFF"/>
                </a:solidFill>
                <a:latin typeface="Inter" pitchFamily="34" charset="0"/>
                <a:ea typeface="Inter" pitchFamily="34" charset="-122"/>
                <a:cs typeface="Inter" pitchFamily="34" charset="-120"/>
              </a:rPr>
              <a:t>Amenity count and review volume show only weak relationships with ratings.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3094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FFFFFF"/>
                </a:solidFill>
                <a:latin typeface="Inter Bold" pitchFamily="34" charset="0"/>
                <a:ea typeface="Inter Bold" pitchFamily="34" charset="-122"/>
                <a:cs typeface="Inter Bold" pitchFamily="34" charset="-120"/>
              </a:rPr>
              <a:t>Recommendations for Hosts</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699617"/>
            <a:ext cx="472468" cy="472480"/>
          </a:xfrm>
          <a:prstGeom prst="rect">
            <a:avLst/>
          </a:prstGeom>
        </p:spPr>
      </p:pic>
      <p:sp>
        <p:nvSpPr>
          <p:cNvPr id="4" name="Text 1"/>
          <p:cNvSpPr/>
          <p:nvPr/>
        </p:nvSpPr>
        <p:spPr>
          <a:xfrm>
            <a:off x="661475" y="2408337"/>
            <a:ext cx="3465426"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Prioritize Guest Experience</a:t>
            </a:r>
            <a:endParaRPr lang="en-US" sz="1850" dirty="0"/>
          </a:p>
        </p:txBody>
      </p:sp>
      <p:sp>
        <p:nvSpPr>
          <p:cNvPr id="5" name="Text 2"/>
          <p:cNvSpPr/>
          <p:nvPr/>
        </p:nvSpPr>
        <p:spPr>
          <a:xfrm>
            <a:off x="661475" y="2817019"/>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Focus on quality and consistency of the stay rather than adding more amenities.</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63135" y="1699617"/>
            <a:ext cx="472468" cy="472480"/>
          </a:xfrm>
          <a:prstGeom prst="rect">
            <a:avLst/>
          </a:prstGeom>
        </p:spPr>
      </p:pic>
      <p:sp>
        <p:nvSpPr>
          <p:cNvPr id="7" name="Text 3"/>
          <p:cNvSpPr/>
          <p:nvPr/>
        </p:nvSpPr>
        <p:spPr>
          <a:xfrm>
            <a:off x="4363135" y="2408337"/>
            <a:ext cx="3465426"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Ensure Value for Money</a:t>
            </a:r>
            <a:endParaRPr lang="en-US" sz="1850" dirty="0"/>
          </a:p>
        </p:txBody>
      </p:sp>
      <p:sp>
        <p:nvSpPr>
          <p:cNvPr id="8" name="Text 4"/>
          <p:cNvSpPr/>
          <p:nvPr/>
        </p:nvSpPr>
        <p:spPr>
          <a:xfrm>
            <a:off x="4363135" y="2817019"/>
            <a:ext cx="346542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Quality and experience should justify the listing price.</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4794" y="1699617"/>
            <a:ext cx="472468" cy="472480"/>
          </a:xfrm>
          <a:prstGeom prst="rect">
            <a:avLst/>
          </a:prstGeom>
        </p:spPr>
      </p:pic>
      <p:sp>
        <p:nvSpPr>
          <p:cNvPr id="10" name="Text 5"/>
          <p:cNvSpPr/>
          <p:nvPr/>
        </p:nvSpPr>
        <p:spPr>
          <a:xfrm>
            <a:off x="8064794" y="2408337"/>
            <a:ext cx="3465426"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Benchmark Locally</a:t>
            </a:r>
            <a:endParaRPr lang="en-US" sz="1850" dirty="0"/>
          </a:p>
        </p:txBody>
      </p:sp>
      <p:sp>
        <p:nvSpPr>
          <p:cNvPr id="11" name="Text 6"/>
          <p:cNvSpPr/>
          <p:nvPr/>
        </p:nvSpPr>
        <p:spPr>
          <a:xfrm>
            <a:off x="8064794" y="2817019"/>
            <a:ext cx="346542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Compare against similar listings in the same market and property type.</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4102298"/>
            <a:ext cx="472468" cy="472480"/>
          </a:xfrm>
          <a:prstGeom prst="rect">
            <a:avLst/>
          </a:prstGeom>
        </p:spPr>
      </p:pic>
      <p:sp>
        <p:nvSpPr>
          <p:cNvPr id="13" name="Text 7"/>
          <p:cNvSpPr/>
          <p:nvPr/>
        </p:nvSpPr>
        <p:spPr>
          <a:xfrm>
            <a:off x="661475" y="4811018"/>
            <a:ext cx="3465426"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Curate Useful Amenities</a:t>
            </a:r>
            <a:endParaRPr lang="en-US" sz="1850" dirty="0"/>
          </a:p>
        </p:txBody>
      </p:sp>
      <p:sp>
        <p:nvSpPr>
          <p:cNvPr id="14" name="Text 8"/>
          <p:cNvSpPr/>
          <p:nvPr/>
        </p:nvSpPr>
        <p:spPr>
          <a:xfrm>
            <a:off x="661475" y="5219700"/>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Focus on functional, relevant, and well-maintained amenities — not quantity.</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63135" y="4102298"/>
            <a:ext cx="472468" cy="472480"/>
          </a:xfrm>
          <a:prstGeom prst="rect">
            <a:avLst/>
          </a:prstGeom>
        </p:spPr>
      </p:pic>
      <p:sp>
        <p:nvSpPr>
          <p:cNvPr id="16" name="Text 9"/>
          <p:cNvSpPr/>
          <p:nvPr/>
        </p:nvSpPr>
        <p:spPr>
          <a:xfrm>
            <a:off x="4363135" y="4811018"/>
            <a:ext cx="3465426"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Monitor Guest Feedback</a:t>
            </a:r>
            <a:endParaRPr lang="en-US" sz="1850" dirty="0"/>
          </a:p>
        </p:txBody>
      </p:sp>
      <p:sp>
        <p:nvSpPr>
          <p:cNvPr id="17" name="Text 10"/>
          <p:cNvSpPr/>
          <p:nvPr/>
        </p:nvSpPr>
        <p:spPr>
          <a:xfrm>
            <a:off x="4363135" y="5219700"/>
            <a:ext cx="346542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Track recurring complaints to identify specific issues requiring attention.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1541</TotalTime>
  <Words>2685</Words>
  <Application>Microsoft Macintosh PowerPoint</Application>
  <PresentationFormat>Widescreen</PresentationFormat>
  <Paragraphs>232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Dr. Jan Noel Vero PD CHP</cp:lastModifiedBy>
  <cp:revision>6</cp:revision>
  <dcterms:created xsi:type="dcterms:W3CDTF">2026-08-11T14:25:37Z</dcterms:created>
  <dcterms:modified xsi:type="dcterms:W3CDTF">2026-08-13T15:53:55Z</dcterms:modified>
</cp:coreProperties>
</file>